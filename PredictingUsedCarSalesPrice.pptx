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9" r:id="rId4"/>
    <p:sldId id="260" r:id="rId5"/>
    <p:sldId id="261" r:id="rId6"/>
    <p:sldId id="277" r:id="rId7"/>
    <p:sldId id="279" r:id="rId8"/>
    <p:sldId id="278" r:id="rId9"/>
    <p:sldId id="280" r:id="rId10"/>
    <p:sldId id="263" r:id="rId11"/>
    <p:sldId id="264" r:id="rId12"/>
    <p:sldId id="265" r:id="rId13"/>
    <p:sldId id="281" r:id="rId14"/>
    <p:sldId id="270" r:id="rId15"/>
    <p:sldId id="275" r:id="rId16"/>
    <p:sldId id="271" r:id="rId17"/>
    <p:sldId id="286" r:id="rId18"/>
    <p:sldId id="272" r:id="rId19"/>
    <p:sldId id="274" r:id="rId20"/>
    <p:sldId id="287" r:id="rId21"/>
    <p:sldId id="276" r:id="rId22"/>
    <p:sldId id="283" r:id="rId23"/>
    <p:sldId id="284" r:id="rId24"/>
    <p:sldId id="28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278" autoAdjust="0"/>
    <p:restoredTop sz="96400" autoAdjust="0"/>
  </p:normalViewPr>
  <p:slideViewPr>
    <p:cSldViewPr snapToGrid="0">
      <p:cViewPr varScale="1">
        <p:scale>
          <a:sx n="107" d="100"/>
          <a:sy n="107" d="100"/>
        </p:scale>
        <p:origin x="942" y="114"/>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53AD005-DF25-458D-A2DE-9C0EB73F8733}" type="doc">
      <dgm:prSet loTypeId="urn:microsoft.com/office/officeart/2005/8/layout/process4" loCatId="process" qsTypeId="urn:microsoft.com/office/officeart/2005/8/quickstyle/simple4" qsCatId="simple" csTypeId="urn:microsoft.com/office/officeart/2005/8/colors/colorful2" csCatId="colorful" phldr="1"/>
      <dgm:spPr/>
      <dgm:t>
        <a:bodyPr/>
        <a:lstStyle/>
        <a:p>
          <a:endParaRPr lang="en-US"/>
        </a:p>
      </dgm:t>
    </dgm:pt>
    <dgm:pt modelId="{9E02AAD4-BA1B-485B-85A2-B1274A530CDE}">
      <dgm:prSet/>
      <dgm:spPr/>
      <dgm:t>
        <a:bodyPr/>
        <a:lstStyle/>
        <a:p>
          <a:r>
            <a:rPr lang="en-CA" dirty="0"/>
            <a:t>Used Vehicles Market has a great number of variables used by the buyers when they decide to select a new car. Not only manufacturer, engine power, model, and size, but also condition, odometer, year, and so on.</a:t>
          </a:r>
          <a:endParaRPr lang="en-US" dirty="0"/>
        </a:p>
      </dgm:t>
    </dgm:pt>
    <dgm:pt modelId="{754AA595-2F99-41F7-8D3D-0D8BC423A394}" type="parTrans" cxnId="{A0B4212B-1EE0-4354-A17C-5A835B3C5047}">
      <dgm:prSet/>
      <dgm:spPr/>
      <dgm:t>
        <a:bodyPr/>
        <a:lstStyle/>
        <a:p>
          <a:endParaRPr lang="en-US"/>
        </a:p>
      </dgm:t>
    </dgm:pt>
    <dgm:pt modelId="{90603E3D-6735-4AE4-91B9-841C25E0AC91}" type="sibTrans" cxnId="{A0B4212B-1EE0-4354-A17C-5A835B3C5047}">
      <dgm:prSet/>
      <dgm:spPr/>
      <dgm:t>
        <a:bodyPr/>
        <a:lstStyle/>
        <a:p>
          <a:endParaRPr lang="en-US"/>
        </a:p>
      </dgm:t>
    </dgm:pt>
    <dgm:pt modelId="{2212CE7E-B652-4776-8D41-D6839E59EE5F}">
      <dgm:prSet/>
      <dgm:spPr/>
      <dgm:t>
        <a:bodyPr/>
        <a:lstStyle/>
        <a:p>
          <a:r>
            <a:rPr lang="en-CA" dirty="0"/>
            <a:t>Is it possible to predict a used car sale price from these variables?</a:t>
          </a:r>
          <a:endParaRPr lang="en-US" dirty="0"/>
        </a:p>
      </dgm:t>
    </dgm:pt>
    <dgm:pt modelId="{30EFD425-1C4F-4461-9A02-BAA7DFC8545B}" type="parTrans" cxnId="{02EB1B4C-3F4E-44C8-9FAF-3732788D147D}">
      <dgm:prSet/>
      <dgm:spPr/>
      <dgm:t>
        <a:bodyPr/>
        <a:lstStyle/>
        <a:p>
          <a:endParaRPr lang="en-US"/>
        </a:p>
      </dgm:t>
    </dgm:pt>
    <dgm:pt modelId="{0A36D3C2-1954-4441-A89E-DD5896641E70}" type="sibTrans" cxnId="{02EB1B4C-3F4E-44C8-9FAF-3732788D147D}">
      <dgm:prSet/>
      <dgm:spPr/>
      <dgm:t>
        <a:bodyPr/>
        <a:lstStyle/>
        <a:p>
          <a:endParaRPr lang="en-US"/>
        </a:p>
      </dgm:t>
    </dgm:pt>
    <dgm:pt modelId="{4D46D149-9887-434D-AF60-521121D447DB}" type="pres">
      <dgm:prSet presAssocID="{153AD005-DF25-458D-A2DE-9C0EB73F8733}" presName="Name0" presStyleCnt="0">
        <dgm:presLayoutVars>
          <dgm:dir/>
          <dgm:animLvl val="lvl"/>
          <dgm:resizeHandles val="exact"/>
        </dgm:presLayoutVars>
      </dgm:prSet>
      <dgm:spPr/>
    </dgm:pt>
    <dgm:pt modelId="{33BA8A4E-400A-4BA2-9379-D5F895C71939}" type="pres">
      <dgm:prSet presAssocID="{2212CE7E-B652-4776-8D41-D6839E59EE5F}" presName="boxAndChildren" presStyleCnt="0"/>
      <dgm:spPr/>
    </dgm:pt>
    <dgm:pt modelId="{57266690-8ECA-4015-B161-2F3B54F4D6B1}" type="pres">
      <dgm:prSet presAssocID="{2212CE7E-B652-4776-8D41-D6839E59EE5F}" presName="parentTextBox" presStyleLbl="node1" presStyleIdx="0" presStyleCnt="2" custScaleY="71685"/>
      <dgm:spPr/>
    </dgm:pt>
    <dgm:pt modelId="{3C10CDC9-5EF8-423E-A6CA-F559FD375863}" type="pres">
      <dgm:prSet presAssocID="{90603E3D-6735-4AE4-91B9-841C25E0AC91}" presName="sp" presStyleCnt="0"/>
      <dgm:spPr/>
    </dgm:pt>
    <dgm:pt modelId="{DB73DDFA-75B2-4CD5-922E-B7F5713E6C33}" type="pres">
      <dgm:prSet presAssocID="{9E02AAD4-BA1B-485B-85A2-B1274A530CDE}" presName="arrowAndChildren" presStyleCnt="0"/>
      <dgm:spPr/>
    </dgm:pt>
    <dgm:pt modelId="{9A47E71F-27C1-4916-80E9-00BD4FD78E57}" type="pres">
      <dgm:prSet presAssocID="{9E02AAD4-BA1B-485B-85A2-B1274A530CDE}" presName="parentTextArrow" presStyleLbl="node1" presStyleIdx="1" presStyleCnt="2" custLinFactNeighborX="-2" custLinFactNeighborY="-6872"/>
      <dgm:spPr/>
    </dgm:pt>
  </dgm:ptLst>
  <dgm:cxnLst>
    <dgm:cxn modelId="{A0B4212B-1EE0-4354-A17C-5A835B3C5047}" srcId="{153AD005-DF25-458D-A2DE-9C0EB73F8733}" destId="{9E02AAD4-BA1B-485B-85A2-B1274A530CDE}" srcOrd="0" destOrd="0" parTransId="{754AA595-2F99-41F7-8D3D-0D8BC423A394}" sibTransId="{90603E3D-6735-4AE4-91B9-841C25E0AC91}"/>
    <dgm:cxn modelId="{D2079766-F670-4956-82A7-4F53C6B94D42}" type="presOf" srcId="{9E02AAD4-BA1B-485B-85A2-B1274A530CDE}" destId="{9A47E71F-27C1-4916-80E9-00BD4FD78E57}" srcOrd="0" destOrd="0" presId="urn:microsoft.com/office/officeart/2005/8/layout/process4"/>
    <dgm:cxn modelId="{02EB1B4C-3F4E-44C8-9FAF-3732788D147D}" srcId="{153AD005-DF25-458D-A2DE-9C0EB73F8733}" destId="{2212CE7E-B652-4776-8D41-D6839E59EE5F}" srcOrd="1" destOrd="0" parTransId="{30EFD425-1C4F-4461-9A02-BAA7DFC8545B}" sibTransId="{0A36D3C2-1954-4441-A89E-DD5896641E70}"/>
    <dgm:cxn modelId="{216B0856-6A19-4E43-81EE-061458D5E19D}" type="presOf" srcId="{2212CE7E-B652-4776-8D41-D6839E59EE5F}" destId="{57266690-8ECA-4015-B161-2F3B54F4D6B1}" srcOrd="0" destOrd="0" presId="urn:microsoft.com/office/officeart/2005/8/layout/process4"/>
    <dgm:cxn modelId="{DD07335A-1E46-4BB0-9647-C747608690A8}" type="presOf" srcId="{153AD005-DF25-458D-A2DE-9C0EB73F8733}" destId="{4D46D149-9887-434D-AF60-521121D447DB}" srcOrd="0" destOrd="0" presId="urn:microsoft.com/office/officeart/2005/8/layout/process4"/>
    <dgm:cxn modelId="{E7F7A285-CE52-4EA6-88C7-AB98F0CA8051}" type="presParOf" srcId="{4D46D149-9887-434D-AF60-521121D447DB}" destId="{33BA8A4E-400A-4BA2-9379-D5F895C71939}" srcOrd="0" destOrd="0" presId="urn:microsoft.com/office/officeart/2005/8/layout/process4"/>
    <dgm:cxn modelId="{DF543281-EE25-491B-BF14-046393671FBA}" type="presParOf" srcId="{33BA8A4E-400A-4BA2-9379-D5F895C71939}" destId="{57266690-8ECA-4015-B161-2F3B54F4D6B1}" srcOrd="0" destOrd="0" presId="urn:microsoft.com/office/officeart/2005/8/layout/process4"/>
    <dgm:cxn modelId="{D16F1860-F81A-4869-855C-CA169B3584D4}" type="presParOf" srcId="{4D46D149-9887-434D-AF60-521121D447DB}" destId="{3C10CDC9-5EF8-423E-A6CA-F559FD375863}" srcOrd="1" destOrd="0" presId="urn:microsoft.com/office/officeart/2005/8/layout/process4"/>
    <dgm:cxn modelId="{6F369AD5-B019-4688-94A1-263311997C1D}" type="presParOf" srcId="{4D46D149-9887-434D-AF60-521121D447DB}" destId="{DB73DDFA-75B2-4CD5-922E-B7F5713E6C33}" srcOrd="2" destOrd="0" presId="urn:microsoft.com/office/officeart/2005/8/layout/process4"/>
    <dgm:cxn modelId="{61C3CF37-1744-4C88-BF86-270C1943BEF0}" type="presParOf" srcId="{DB73DDFA-75B2-4CD5-922E-B7F5713E6C33}" destId="{9A47E71F-27C1-4916-80E9-00BD4FD78E57}"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31A67D9-1C96-4847-9CCC-A7D7C21A9752}" type="doc">
      <dgm:prSet loTypeId="urn:microsoft.com/office/officeart/2005/8/layout/vList2" loCatId="list" qsTypeId="urn:microsoft.com/office/officeart/2005/8/quickstyle/simple4" qsCatId="simple" csTypeId="urn:microsoft.com/office/officeart/2005/8/colors/colorful5" csCatId="colorful" phldr="1"/>
      <dgm:spPr/>
      <dgm:t>
        <a:bodyPr/>
        <a:lstStyle/>
        <a:p>
          <a:endParaRPr lang="en-US"/>
        </a:p>
      </dgm:t>
    </dgm:pt>
    <dgm:pt modelId="{1B0123EF-73F6-47F6-8164-76CC3247C1E4}">
      <dgm:prSet custT="1"/>
      <dgm:spPr/>
      <dgm:t>
        <a:bodyPr/>
        <a:lstStyle/>
        <a:p>
          <a:r>
            <a:rPr lang="en-CA" sz="1400" dirty="0"/>
            <a:t>Deleted all rows with ‘Null’ values on explanatory variables – These are incomplete entries that can add noise to the model</a:t>
          </a:r>
          <a:endParaRPr lang="en-US" sz="1400" dirty="0"/>
        </a:p>
      </dgm:t>
    </dgm:pt>
    <dgm:pt modelId="{C87C4BFB-6EF0-4687-8898-1CAAE6204E57}" type="parTrans" cxnId="{0A02E7A1-ABBF-4DBC-98D1-400224322A5F}">
      <dgm:prSet/>
      <dgm:spPr/>
      <dgm:t>
        <a:bodyPr/>
        <a:lstStyle/>
        <a:p>
          <a:endParaRPr lang="en-US" sz="1400"/>
        </a:p>
      </dgm:t>
    </dgm:pt>
    <dgm:pt modelId="{5819A19D-4F94-4FB8-8785-0C1436A69A44}" type="sibTrans" cxnId="{0A02E7A1-ABBF-4DBC-98D1-400224322A5F}">
      <dgm:prSet/>
      <dgm:spPr/>
      <dgm:t>
        <a:bodyPr/>
        <a:lstStyle/>
        <a:p>
          <a:endParaRPr lang="en-US" sz="1400"/>
        </a:p>
      </dgm:t>
    </dgm:pt>
    <dgm:pt modelId="{4BF7CD81-45BD-4270-8D1C-25954C59D9AF}">
      <dgm:prSet custT="1"/>
      <dgm:spPr/>
      <dgm:t>
        <a:bodyPr/>
        <a:lstStyle/>
        <a:p>
          <a:r>
            <a:rPr lang="en-CA" sz="1400" dirty="0"/>
            <a:t>Deleted all rows referring to “utility” as the vehicle Type (“truck” and “bus”) – These Type categories will not be covered by the predictive model</a:t>
          </a:r>
          <a:endParaRPr lang="en-US" sz="1400" dirty="0"/>
        </a:p>
      </dgm:t>
    </dgm:pt>
    <dgm:pt modelId="{0659CC08-2108-404F-96A3-C17A884350E3}" type="parTrans" cxnId="{336CEF55-7866-45DF-A900-563F4AE3F4F5}">
      <dgm:prSet/>
      <dgm:spPr/>
      <dgm:t>
        <a:bodyPr/>
        <a:lstStyle/>
        <a:p>
          <a:endParaRPr lang="en-US" sz="1400"/>
        </a:p>
      </dgm:t>
    </dgm:pt>
    <dgm:pt modelId="{C07734C8-0E23-4F8F-9046-87FA16D7E50F}" type="sibTrans" cxnId="{336CEF55-7866-45DF-A900-563F4AE3F4F5}">
      <dgm:prSet/>
      <dgm:spPr/>
      <dgm:t>
        <a:bodyPr/>
        <a:lstStyle/>
        <a:p>
          <a:endParaRPr lang="en-US" sz="1400"/>
        </a:p>
      </dgm:t>
    </dgm:pt>
    <dgm:pt modelId="{DA7EADC6-DC5C-4DC8-8FF6-D6571B560045}">
      <dgm:prSet custT="1"/>
      <dgm:spPr/>
      <dgm:t>
        <a:bodyPr/>
        <a:lstStyle/>
        <a:p>
          <a:r>
            <a:rPr lang="en-CA" sz="1400" dirty="0"/>
            <a:t>Aggregate all “exotic” or rare colors (“orange”, “yellow”, “purple”, and “custom”) into one unique category</a:t>
          </a:r>
          <a:endParaRPr lang="en-US" sz="1400" dirty="0"/>
        </a:p>
      </dgm:t>
    </dgm:pt>
    <dgm:pt modelId="{CD192A5C-AFB7-4E68-B0CE-8CB00A55F14F}" type="parTrans" cxnId="{EC277A91-4214-4653-BA26-5ADFED0DD0F4}">
      <dgm:prSet/>
      <dgm:spPr/>
      <dgm:t>
        <a:bodyPr/>
        <a:lstStyle/>
        <a:p>
          <a:endParaRPr lang="en-US" sz="1400"/>
        </a:p>
      </dgm:t>
    </dgm:pt>
    <dgm:pt modelId="{5DD9102A-7B8F-442E-B382-F65B17996EE9}" type="sibTrans" cxnId="{EC277A91-4214-4653-BA26-5ADFED0DD0F4}">
      <dgm:prSet/>
      <dgm:spPr/>
      <dgm:t>
        <a:bodyPr/>
        <a:lstStyle/>
        <a:p>
          <a:endParaRPr lang="en-US" sz="1400"/>
        </a:p>
      </dgm:t>
    </dgm:pt>
    <dgm:pt modelId="{B39B95B9-6FF2-48DC-8EBE-84D1996A439E}">
      <dgm:prSet custT="1"/>
      <dgm:spPr/>
      <dgm:t>
        <a:bodyPr/>
        <a:lstStyle/>
        <a:p>
          <a:r>
            <a:rPr lang="en-CA" sz="1400" dirty="0"/>
            <a:t>Deleted all “unreal” car prices (less than $ 1,000) – Probably it is a Click Bait</a:t>
          </a:r>
          <a:endParaRPr lang="en-US" sz="1400" dirty="0"/>
        </a:p>
      </dgm:t>
    </dgm:pt>
    <dgm:pt modelId="{FB11E429-B30C-49B6-95F3-3012420803ED}" type="parTrans" cxnId="{FA675229-6E88-464C-B193-05546010CA64}">
      <dgm:prSet/>
      <dgm:spPr/>
      <dgm:t>
        <a:bodyPr/>
        <a:lstStyle/>
        <a:p>
          <a:endParaRPr lang="en-US" sz="1400"/>
        </a:p>
      </dgm:t>
    </dgm:pt>
    <dgm:pt modelId="{E76D53D6-AE23-4861-8669-DA53A31423CF}" type="sibTrans" cxnId="{FA675229-6E88-464C-B193-05546010CA64}">
      <dgm:prSet/>
      <dgm:spPr/>
      <dgm:t>
        <a:bodyPr/>
        <a:lstStyle/>
        <a:p>
          <a:endParaRPr lang="en-US" sz="1400"/>
        </a:p>
      </dgm:t>
    </dgm:pt>
    <dgm:pt modelId="{8091D40C-4A5F-4EDF-829F-05CDD807A159}">
      <dgm:prSet custT="1"/>
      <dgm:spPr/>
      <dgm:t>
        <a:bodyPr/>
        <a:lstStyle/>
        <a:p>
          <a:r>
            <a:rPr lang="en-CA" sz="1400" dirty="0"/>
            <a:t>Deleted all rows with no odometer information – It can be also a Click Bait</a:t>
          </a:r>
          <a:endParaRPr lang="en-US" sz="1400" dirty="0"/>
        </a:p>
      </dgm:t>
    </dgm:pt>
    <dgm:pt modelId="{C853CA5B-77FD-4269-B417-DAA3AC0C5438}" type="parTrans" cxnId="{6F217F61-B63C-4A41-A2D9-78C9A3378FE4}">
      <dgm:prSet/>
      <dgm:spPr/>
      <dgm:t>
        <a:bodyPr/>
        <a:lstStyle/>
        <a:p>
          <a:endParaRPr lang="en-US" sz="1400"/>
        </a:p>
      </dgm:t>
    </dgm:pt>
    <dgm:pt modelId="{1019A0B1-029F-4B9A-8191-C812FC3EE951}" type="sibTrans" cxnId="{6F217F61-B63C-4A41-A2D9-78C9A3378FE4}">
      <dgm:prSet/>
      <dgm:spPr/>
      <dgm:t>
        <a:bodyPr/>
        <a:lstStyle/>
        <a:p>
          <a:endParaRPr lang="en-US" sz="1400"/>
        </a:p>
      </dgm:t>
    </dgm:pt>
    <dgm:pt modelId="{BB775A0D-A07A-49FF-BD5A-E215A59BCE2F}">
      <dgm:prSet custT="1"/>
      <dgm:spPr/>
      <dgm:t>
        <a:bodyPr/>
        <a:lstStyle/>
        <a:p>
          <a:r>
            <a:rPr lang="en-CA" sz="1400" dirty="0"/>
            <a:t>Deleted all rows with “other” in cylinders, fuel, transmission, and type – Precise information needed for prediction is not available in these cases</a:t>
          </a:r>
          <a:endParaRPr lang="en-US" sz="1400" dirty="0"/>
        </a:p>
      </dgm:t>
    </dgm:pt>
    <dgm:pt modelId="{7623EFF4-9B8A-4664-8423-81F9C25C4C71}" type="parTrans" cxnId="{8E0865EA-A873-4146-8759-B04184F4B18F}">
      <dgm:prSet/>
      <dgm:spPr/>
      <dgm:t>
        <a:bodyPr/>
        <a:lstStyle/>
        <a:p>
          <a:endParaRPr lang="en-US" sz="1400"/>
        </a:p>
      </dgm:t>
    </dgm:pt>
    <dgm:pt modelId="{182BB17B-FA81-498B-A64E-550F0F20F5C2}" type="sibTrans" cxnId="{8E0865EA-A873-4146-8759-B04184F4B18F}">
      <dgm:prSet/>
      <dgm:spPr/>
      <dgm:t>
        <a:bodyPr/>
        <a:lstStyle/>
        <a:p>
          <a:endParaRPr lang="en-US" sz="1400"/>
        </a:p>
      </dgm:t>
    </dgm:pt>
    <dgm:pt modelId="{E942857B-EE22-49D5-B0A6-F5F9B4FA9B35}">
      <dgm:prSet custT="1"/>
      <dgm:spPr/>
      <dgm:t>
        <a:bodyPr/>
        <a:lstStyle/>
        <a:p>
          <a:r>
            <a:rPr lang="en-CA" sz="1400"/>
            <a:t>Deleted all rows which manufacturer has low quantity of vehicles ("tesla", "harley-davidson", "alfa-romeo", "datsun", "ferrari", "land rover", "aston-martin", and "porche“)</a:t>
          </a:r>
          <a:endParaRPr lang="en-US" sz="1400"/>
        </a:p>
      </dgm:t>
    </dgm:pt>
    <dgm:pt modelId="{DD0BE59D-BCA9-4797-956B-2332EC7350AE}" type="parTrans" cxnId="{EA94250C-E42A-40B7-A96A-913538474E4A}">
      <dgm:prSet/>
      <dgm:spPr/>
      <dgm:t>
        <a:bodyPr/>
        <a:lstStyle/>
        <a:p>
          <a:endParaRPr lang="en-US" sz="1400"/>
        </a:p>
      </dgm:t>
    </dgm:pt>
    <dgm:pt modelId="{45E26D8F-1A72-4B8F-92AA-7AB04B00EF90}" type="sibTrans" cxnId="{EA94250C-E42A-40B7-A96A-913538474E4A}">
      <dgm:prSet/>
      <dgm:spPr/>
      <dgm:t>
        <a:bodyPr/>
        <a:lstStyle/>
        <a:p>
          <a:endParaRPr lang="en-US" sz="1400"/>
        </a:p>
      </dgm:t>
    </dgm:pt>
    <dgm:pt modelId="{A82964BB-3975-49FE-BEA7-24F58D8646DD}">
      <dgm:prSet custT="1"/>
      <dgm:spPr/>
      <dgm:t>
        <a:bodyPr/>
        <a:lstStyle/>
        <a:p>
          <a:r>
            <a:rPr lang="en-CA" sz="1400" dirty="0"/>
            <a:t>Aggregation of “fair” into “good” Condition, and “like new” into “new” Condition</a:t>
          </a:r>
          <a:endParaRPr lang="en-US" sz="1400" dirty="0"/>
        </a:p>
      </dgm:t>
    </dgm:pt>
    <dgm:pt modelId="{4D3CC4D1-CE7E-45B0-B6AC-9501991249C1}" type="parTrans" cxnId="{2C24E248-424D-463A-9B46-1D4EFF5C56BB}">
      <dgm:prSet/>
      <dgm:spPr/>
      <dgm:t>
        <a:bodyPr/>
        <a:lstStyle/>
        <a:p>
          <a:endParaRPr lang="en-US" sz="1400"/>
        </a:p>
      </dgm:t>
    </dgm:pt>
    <dgm:pt modelId="{87336D06-81B1-47BE-8911-F3864270C7D4}" type="sibTrans" cxnId="{2C24E248-424D-463A-9B46-1D4EFF5C56BB}">
      <dgm:prSet/>
      <dgm:spPr/>
      <dgm:t>
        <a:bodyPr/>
        <a:lstStyle/>
        <a:p>
          <a:endParaRPr lang="en-US" sz="1400"/>
        </a:p>
      </dgm:t>
    </dgm:pt>
    <dgm:pt modelId="{7FB9BD1B-7998-4A2E-B546-24C9B35E3CC7}" type="pres">
      <dgm:prSet presAssocID="{B31A67D9-1C96-4847-9CCC-A7D7C21A9752}" presName="linear" presStyleCnt="0">
        <dgm:presLayoutVars>
          <dgm:animLvl val="lvl"/>
          <dgm:resizeHandles val="exact"/>
        </dgm:presLayoutVars>
      </dgm:prSet>
      <dgm:spPr/>
    </dgm:pt>
    <dgm:pt modelId="{D6E4E758-77F6-4D9C-AF35-3A7861BCA8CF}" type="pres">
      <dgm:prSet presAssocID="{1B0123EF-73F6-47F6-8164-76CC3247C1E4}" presName="parentText" presStyleLbl="node1" presStyleIdx="0" presStyleCnt="8">
        <dgm:presLayoutVars>
          <dgm:chMax val="0"/>
          <dgm:bulletEnabled val="1"/>
        </dgm:presLayoutVars>
      </dgm:prSet>
      <dgm:spPr/>
    </dgm:pt>
    <dgm:pt modelId="{B595F4FD-6604-4300-8547-E99EB2FE5846}" type="pres">
      <dgm:prSet presAssocID="{5819A19D-4F94-4FB8-8785-0C1436A69A44}" presName="spacer" presStyleCnt="0"/>
      <dgm:spPr/>
    </dgm:pt>
    <dgm:pt modelId="{D9E18ADB-53CB-4EA7-91B8-90EBBD71444F}" type="pres">
      <dgm:prSet presAssocID="{4BF7CD81-45BD-4270-8D1C-25954C59D9AF}" presName="parentText" presStyleLbl="node1" presStyleIdx="1" presStyleCnt="8">
        <dgm:presLayoutVars>
          <dgm:chMax val="0"/>
          <dgm:bulletEnabled val="1"/>
        </dgm:presLayoutVars>
      </dgm:prSet>
      <dgm:spPr/>
    </dgm:pt>
    <dgm:pt modelId="{804DD04B-16EE-47A6-8E66-EBDE23C71D9F}" type="pres">
      <dgm:prSet presAssocID="{C07734C8-0E23-4F8F-9046-87FA16D7E50F}" presName="spacer" presStyleCnt="0"/>
      <dgm:spPr/>
    </dgm:pt>
    <dgm:pt modelId="{C843F4DA-94F5-49AA-A894-5F7BCB12D519}" type="pres">
      <dgm:prSet presAssocID="{DA7EADC6-DC5C-4DC8-8FF6-D6571B560045}" presName="parentText" presStyleLbl="node1" presStyleIdx="2" presStyleCnt="8">
        <dgm:presLayoutVars>
          <dgm:chMax val="0"/>
          <dgm:bulletEnabled val="1"/>
        </dgm:presLayoutVars>
      </dgm:prSet>
      <dgm:spPr/>
    </dgm:pt>
    <dgm:pt modelId="{B0241E5C-1D43-4CD5-9B9E-03A965DA29D5}" type="pres">
      <dgm:prSet presAssocID="{5DD9102A-7B8F-442E-B382-F65B17996EE9}" presName="spacer" presStyleCnt="0"/>
      <dgm:spPr/>
    </dgm:pt>
    <dgm:pt modelId="{D702FC77-64D5-48DA-A32A-1BD0A83CEB68}" type="pres">
      <dgm:prSet presAssocID="{B39B95B9-6FF2-48DC-8EBE-84D1996A439E}" presName="parentText" presStyleLbl="node1" presStyleIdx="3" presStyleCnt="8">
        <dgm:presLayoutVars>
          <dgm:chMax val="0"/>
          <dgm:bulletEnabled val="1"/>
        </dgm:presLayoutVars>
      </dgm:prSet>
      <dgm:spPr/>
    </dgm:pt>
    <dgm:pt modelId="{16948FB1-C322-45A7-A0B4-F5FC59CF5424}" type="pres">
      <dgm:prSet presAssocID="{E76D53D6-AE23-4861-8669-DA53A31423CF}" presName="spacer" presStyleCnt="0"/>
      <dgm:spPr/>
    </dgm:pt>
    <dgm:pt modelId="{E6132B34-66F5-4106-92F6-2D50B0C53C58}" type="pres">
      <dgm:prSet presAssocID="{8091D40C-4A5F-4EDF-829F-05CDD807A159}" presName="parentText" presStyleLbl="node1" presStyleIdx="4" presStyleCnt="8">
        <dgm:presLayoutVars>
          <dgm:chMax val="0"/>
          <dgm:bulletEnabled val="1"/>
        </dgm:presLayoutVars>
      </dgm:prSet>
      <dgm:spPr/>
    </dgm:pt>
    <dgm:pt modelId="{0DE019EA-2425-4A13-95A3-B44DC5DE164B}" type="pres">
      <dgm:prSet presAssocID="{1019A0B1-029F-4B9A-8191-C812FC3EE951}" presName="spacer" presStyleCnt="0"/>
      <dgm:spPr/>
    </dgm:pt>
    <dgm:pt modelId="{34B39131-C0B0-466E-8DA4-48F08567FA11}" type="pres">
      <dgm:prSet presAssocID="{BB775A0D-A07A-49FF-BD5A-E215A59BCE2F}" presName="parentText" presStyleLbl="node1" presStyleIdx="5" presStyleCnt="8">
        <dgm:presLayoutVars>
          <dgm:chMax val="0"/>
          <dgm:bulletEnabled val="1"/>
        </dgm:presLayoutVars>
      </dgm:prSet>
      <dgm:spPr/>
    </dgm:pt>
    <dgm:pt modelId="{1736565E-C9E5-4B86-BC0C-B3D8C3794D71}" type="pres">
      <dgm:prSet presAssocID="{182BB17B-FA81-498B-A64E-550F0F20F5C2}" presName="spacer" presStyleCnt="0"/>
      <dgm:spPr/>
    </dgm:pt>
    <dgm:pt modelId="{59F294BA-6AAF-4216-8B01-512E3B36ECA4}" type="pres">
      <dgm:prSet presAssocID="{E942857B-EE22-49D5-B0A6-F5F9B4FA9B35}" presName="parentText" presStyleLbl="node1" presStyleIdx="6" presStyleCnt="8">
        <dgm:presLayoutVars>
          <dgm:chMax val="0"/>
          <dgm:bulletEnabled val="1"/>
        </dgm:presLayoutVars>
      </dgm:prSet>
      <dgm:spPr/>
    </dgm:pt>
    <dgm:pt modelId="{FB730A35-C774-41AC-859E-63BBE5831D7E}" type="pres">
      <dgm:prSet presAssocID="{45E26D8F-1A72-4B8F-92AA-7AB04B00EF90}" presName="spacer" presStyleCnt="0"/>
      <dgm:spPr/>
    </dgm:pt>
    <dgm:pt modelId="{E486A6FF-9DBD-4094-92A1-979EAEF2D93F}" type="pres">
      <dgm:prSet presAssocID="{A82964BB-3975-49FE-BEA7-24F58D8646DD}" presName="parentText" presStyleLbl="node1" presStyleIdx="7" presStyleCnt="8">
        <dgm:presLayoutVars>
          <dgm:chMax val="0"/>
          <dgm:bulletEnabled val="1"/>
        </dgm:presLayoutVars>
      </dgm:prSet>
      <dgm:spPr/>
    </dgm:pt>
  </dgm:ptLst>
  <dgm:cxnLst>
    <dgm:cxn modelId="{EA94250C-E42A-40B7-A96A-913538474E4A}" srcId="{B31A67D9-1C96-4847-9CCC-A7D7C21A9752}" destId="{E942857B-EE22-49D5-B0A6-F5F9B4FA9B35}" srcOrd="6" destOrd="0" parTransId="{DD0BE59D-BCA9-4797-956B-2332EC7350AE}" sibTransId="{45E26D8F-1A72-4B8F-92AA-7AB04B00EF90}"/>
    <dgm:cxn modelId="{FA675229-6E88-464C-B193-05546010CA64}" srcId="{B31A67D9-1C96-4847-9CCC-A7D7C21A9752}" destId="{B39B95B9-6FF2-48DC-8EBE-84D1996A439E}" srcOrd="3" destOrd="0" parTransId="{FB11E429-B30C-49B6-95F3-3012420803ED}" sibTransId="{E76D53D6-AE23-4861-8669-DA53A31423CF}"/>
    <dgm:cxn modelId="{036E595D-5763-4C36-A540-3F7A109AAA15}" type="presOf" srcId="{BB775A0D-A07A-49FF-BD5A-E215A59BCE2F}" destId="{34B39131-C0B0-466E-8DA4-48F08567FA11}" srcOrd="0" destOrd="0" presId="urn:microsoft.com/office/officeart/2005/8/layout/vList2"/>
    <dgm:cxn modelId="{6F217F61-B63C-4A41-A2D9-78C9A3378FE4}" srcId="{B31A67D9-1C96-4847-9CCC-A7D7C21A9752}" destId="{8091D40C-4A5F-4EDF-829F-05CDD807A159}" srcOrd="4" destOrd="0" parTransId="{C853CA5B-77FD-4269-B417-DAA3AC0C5438}" sibTransId="{1019A0B1-029F-4B9A-8191-C812FC3EE951}"/>
    <dgm:cxn modelId="{2C24E248-424D-463A-9B46-1D4EFF5C56BB}" srcId="{B31A67D9-1C96-4847-9CCC-A7D7C21A9752}" destId="{A82964BB-3975-49FE-BEA7-24F58D8646DD}" srcOrd="7" destOrd="0" parTransId="{4D3CC4D1-CE7E-45B0-B6AC-9501991249C1}" sibTransId="{87336D06-81B1-47BE-8911-F3864270C7D4}"/>
    <dgm:cxn modelId="{045F8574-AC33-419B-AC2E-78C77EAD9D81}" type="presOf" srcId="{E942857B-EE22-49D5-B0A6-F5F9B4FA9B35}" destId="{59F294BA-6AAF-4216-8B01-512E3B36ECA4}" srcOrd="0" destOrd="0" presId="urn:microsoft.com/office/officeart/2005/8/layout/vList2"/>
    <dgm:cxn modelId="{336CEF55-7866-45DF-A900-563F4AE3F4F5}" srcId="{B31A67D9-1C96-4847-9CCC-A7D7C21A9752}" destId="{4BF7CD81-45BD-4270-8D1C-25954C59D9AF}" srcOrd="1" destOrd="0" parTransId="{0659CC08-2108-404F-96A3-C17A884350E3}" sibTransId="{C07734C8-0E23-4F8F-9046-87FA16D7E50F}"/>
    <dgm:cxn modelId="{BC390359-1EB6-456D-899E-8E30B44C0136}" type="presOf" srcId="{A82964BB-3975-49FE-BEA7-24F58D8646DD}" destId="{E486A6FF-9DBD-4094-92A1-979EAEF2D93F}" srcOrd="0" destOrd="0" presId="urn:microsoft.com/office/officeart/2005/8/layout/vList2"/>
    <dgm:cxn modelId="{EA381A83-CFF3-4CBB-B3A2-E1C0974CE427}" type="presOf" srcId="{B39B95B9-6FF2-48DC-8EBE-84D1996A439E}" destId="{D702FC77-64D5-48DA-A32A-1BD0A83CEB68}" srcOrd="0" destOrd="0" presId="urn:microsoft.com/office/officeart/2005/8/layout/vList2"/>
    <dgm:cxn modelId="{EC277A91-4214-4653-BA26-5ADFED0DD0F4}" srcId="{B31A67D9-1C96-4847-9CCC-A7D7C21A9752}" destId="{DA7EADC6-DC5C-4DC8-8FF6-D6571B560045}" srcOrd="2" destOrd="0" parTransId="{CD192A5C-AFB7-4E68-B0CE-8CB00A55F14F}" sibTransId="{5DD9102A-7B8F-442E-B382-F65B17996EE9}"/>
    <dgm:cxn modelId="{0A02E7A1-ABBF-4DBC-98D1-400224322A5F}" srcId="{B31A67D9-1C96-4847-9CCC-A7D7C21A9752}" destId="{1B0123EF-73F6-47F6-8164-76CC3247C1E4}" srcOrd="0" destOrd="0" parTransId="{C87C4BFB-6EF0-4687-8898-1CAAE6204E57}" sibTransId="{5819A19D-4F94-4FB8-8785-0C1436A69A44}"/>
    <dgm:cxn modelId="{A0D1F3A4-1861-4944-9CB5-7E0B39E4AF2C}" type="presOf" srcId="{4BF7CD81-45BD-4270-8D1C-25954C59D9AF}" destId="{D9E18ADB-53CB-4EA7-91B8-90EBBD71444F}" srcOrd="0" destOrd="0" presId="urn:microsoft.com/office/officeart/2005/8/layout/vList2"/>
    <dgm:cxn modelId="{7A9964BB-87A4-4C1F-B728-DEF9587E8D5C}" type="presOf" srcId="{DA7EADC6-DC5C-4DC8-8FF6-D6571B560045}" destId="{C843F4DA-94F5-49AA-A894-5F7BCB12D519}" srcOrd="0" destOrd="0" presId="urn:microsoft.com/office/officeart/2005/8/layout/vList2"/>
    <dgm:cxn modelId="{D8D6D4D1-398A-4656-BC0E-D5C6AE1A4BDF}" type="presOf" srcId="{B31A67D9-1C96-4847-9CCC-A7D7C21A9752}" destId="{7FB9BD1B-7998-4A2E-B546-24C9B35E3CC7}" srcOrd="0" destOrd="0" presId="urn:microsoft.com/office/officeart/2005/8/layout/vList2"/>
    <dgm:cxn modelId="{BA5F9FD5-A9D6-4B3A-892B-B0BB5E6B6322}" type="presOf" srcId="{8091D40C-4A5F-4EDF-829F-05CDD807A159}" destId="{E6132B34-66F5-4106-92F6-2D50B0C53C58}" srcOrd="0" destOrd="0" presId="urn:microsoft.com/office/officeart/2005/8/layout/vList2"/>
    <dgm:cxn modelId="{8E0865EA-A873-4146-8759-B04184F4B18F}" srcId="{B31A67D9-1C96-4847-9CCC-A7D7C21A9752}" destId="{BB775A0D-A07A-49FF-BD5A-E215A59BCE2F}" srcOrd="5" destOrd="0" parTransId="{7623EFF4-9B8A-4664-8423-81F9C25C4C71}" sibTransId="{182BB17B-FA81-498B-A64E-550F0F20F5C2}"/>
    <dgm:cxn modelId="{53001CFB-BAEE-42EB-AA43-D563528CC6BF}" type="presOf" srcId="{1B0123EF-73F6-47F6-8164-76CC3247C1E4}" destId="{D6E4E758-77F6-4D9C-AF35-3A7861BCA8CF}" srcOrd="0" destOrd="0" presId="urn:microsoft.com/office/officeart/2005/8/layout/vList2"/>
    <dgm:cxn modelId="{B93B1A68-54FD-4CE1-A9FF-2FE42AAF0B92}" type="presParOf" srcId="{7FB9BD1B-7998-4A2E-B546-24C9B35E3CC7}" destId="{D6E4E758-77F6-4D9C-AF35-3A7861BCA8CF}" srcOrd="0" destOrd="0" presId="urn:microsoft.com/office/officeart/2005/8/layout/vList2"/>
    <dgm:cxn modelId="{D237CF32-D3CF-468E-98EC-0695504FE6E5}" type="presParOf" srcId="{7FB9BD1B-7998-4A2E-B546-24C9B35E3CC7}" destId="{B595F4FD-6604-4300-8547-E99EB2FE5846}" srcOrd="1" destOrd="0" presId="urn:microsoft.com/office/officeart/2005/8/layout/vList2"/>
    <dgm:cxn modelId="{E81442CF-A99A-4E89-B66F-CFDF80A4940D}" type="presParOf" srcId="{7FB9BD1B-7998-4A2E-B546-24C9B35E3CC7}" destId="{D9E18ADB-53CB-4EA7-91B8-90EBBD71444F}" srcOrd="2" destOrd="0" presId="urn:microsoft.com/office/officeart/2005/8/layout/vList2"/>
    <dgm:cxn modelId="{37B8E78C-079E-40BF-8172-06BCCA1C63E6}" type="presParOf" srcId="{7FB9BD1B-7998-4A2E-B546-24C9B35E3CC7}" destId="{804DD04B-16EE-47A6-8E66-EBDE23C71D9F}" srcOrd="3" destOrd="0" presId="urn:microsoft.com/office/officeart/2005/8/layout/vList2"/>
    <dgm:cxn modelId="{C54F625D-1D4D-45FA-8563-BB0D85242BDA}" type="presParOf" srcId="{7FB9BD1B-7998-4A2E-B546-24C9B35E3CC7}" destId="{C843F4DA-94F5-49AA-A894-5F7BCB12D519}" srcOrd="4" destOrd="0" presId="urn:microsoft.com/office/officeart/2005/8/layout/vList2"/>
    <dgm:cxn modelId="{3D5A7548-EE38-4CC1-AED0-728E85832995}" type="presParOf" srcId="{7FB9BD1B-7998-4A2E-B546-24C9B35E3CC7}" destId="{B0241E5C-1D43-4CD5-9B9E-03A965DA29D5}" srcOrd="5" destOrd="0" presId="urn:microsoft.com/office/officeart/2005/8/layout/vList2"/>
    <dgm:cxn modelId="{A601C444-E3EB-42C5-A9AD-FB5CD038C4DC}" type="presParOf" srcId="{7FB9BD1B-7998-4A2E-B546-24C9B35E3CC7}" destId="{D702FC77-64D5-48DA-A32A-1BD0A83CEB68}" srcOrd="6" destOrd="0" presId="urn:microsoft.com/office/officeart/2005/8/layout/vList2"/>
    <dgm:cxn modelId="{F67C3093-B8D0-42FD-A4F8-E426176E3003}" type="presParOf" srcId="{7FB9BD1B-7998-4A2E-B546-24C9B35E3CC7}" destId="{16948FB1-C322-45A7-A0B4-F5FC59CF5424}" srcOrd="7" destOrd="0" presId="urn:microsoft.com/office/officeart/2005/8/layout/vList2"/>
    <dgm:cxn modelId="{22CC8C5B-EEFB-4C34-8516-723962EE3341}" type="presParOf" srcId="{7FB9BD1B-7998-4A2E-B546-24C9B35E3CC7}" destId="{E6132B34-66F5-4106-92F6-2D50B0C53C58}" srcOrd="8" destOrd="0" presId="urn:microsoft.com/office/officeart/2005/8/layout/vList2"/>
    <dgm:cxn modelId="{E7BFFBB0-F28B-41F9-819E-4BD10B579C97}" type="presParOf" srcId="{7FB9BD1B-7998-4A2E-B546-24C9B35E3CC7}" destId="{0DE019EA-2425-4A13-95A3-B44DC5DE164B}" srcOrd="9" destOrd="0" presId="urn:microsoft.com/office/officeart/2005/8/layout/vList2"/>
    <dgm:cxn modelId="{DEED3FD0-A296-47DF-AAAE-4BAC480A1A69}" type="presParOf" srcId="{7FB9BD1B-7998-4A2E-B546-24C9B35E3CC7}" destId="{34B39131-C0B0-466E-8DA4-48F08567FA11}" srcOrd="10" destOrd="0" presId="urn:microsoft.com/office/officeart/2005/8/layout/vList2"/>
    <dgm:cxn modelId="{292DF9E0-1C27-4240-8B27-0F912B999F36}" type="presParOf" srcId="{7FB9BD1B-7998-4A2E-B546-24C9B35E3CC7}" destId="{1736565E-C9E5-4B86-BC0C-B3D8C3794D71}" srcOrd="11" destOrd="0" presId="urn:microsoft.com/office/officeart/2005/8/layout/vList2"/>
    <dgm:cxn modelId="{486B641E-E941-4466-9A6F-68D9107AF814}" type="presParOf" srcId="{7FB9BD1B-7998-4A2E-B546-24C9B35E3CC7}" destId="{59F294BA-6AAF-4216-8B01-512E3B36ECA4}" srcOrd="12" destOrd="0" presId="urn:microsoft.com/office/officeart/2005/8/layout/vList2"/>
    <dgm:cxn modelId="{DEAF3814-AA59-4684-AAA7-F87699E58462}" type="presParOf" srcId="{7FB9BD1B-7998-4A2E-B546-24C9B35E3CC7}" destId="{FB730A35-C774-41AC-859E-63BBE5831D7E}" srcOrd="13" destOrd="0" presId="urn:microsoft.com/office/officeart/2005/8/layout/vList2"/>
    <dgm:cxn modelId="{64ADD58F-3ED8-440D-9567-EA3B6D5CCD7F}" type="presParOf" srcId="{7FB9BD1B-7998-4A2E-B546-24C9B35E3CC7}" destId="{E486A6FF-9DBD-4094-92A1-979EAEF2D93F}" srcOrd="1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266690-8ECA-4015-B161-2F3B54F4D6B1}">
      <dsp:nvSpPr>
        <dsp:cNvPr id="0" name=""/>
        <dsp:cNvSpPr/>
      </dsp:nvSpPr>
      <dsp:spPr>
        <a:xfrm>
          <a:off x="0" y="3638258"/>
          <a:ext cx="5607050" cy="1711988"/>
        </a:xfrm>
        <a:prstGeom prst="rect">
          <a:avLst/>
        </a:prstGeom>
        <a:gradFill rotWithShape="0">
          <a:gsLst>
            <a:gs pos="0">
              <a:schemeClr val="accent2">
                <a:hueOff val="0"/>
                <a:satOff val="0"/>
                <a:lumOff val="0"/>
                <a:alphaOff val="0"/>
                <a:tint val="97000"/>
                <a:satMod val="100000"/>
                <a:lumMod val="102000"/>
              </a:schemeClr>
            </a:gs>
            <a:gs pos="50000">
              <a:schemeClr val="accent2">
                <a:hueOff val="0"/>
                <a:satOff val="0"/>
                <a:lumOff val="0"/>
                <a:alphaOff val="0"/>
                <a:shade val="100000"/>
                <a:satMod val="103000"/>
                <a:lumMod val="100000"/>
              </a:schemeClr>
            </a:gs>
            <a:gs pos="100000">
              <a:schemeClr val="accent2">
                <a:hueOff val="0"/>
                <a:satOff val="0"/>
                <a:lumOff val="0"/>
                <a:alphaOff val="0"/>
                <a:shade val="93000"/>
                <a:satMod val="110000"/>
                <a:lumMod val="99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CA" sz="2500" kern="1200" dirty="0"/>
            <a:t>Is it possible to predict a used car sale price from these variables?</a:t>
          </a:r>
          <a:endParaRPr lang="en-US" sz="2500" kern="1200" dirty="0"/>
        </a:p>
      </dsp:txBody>
      <dsp:txXfrm>
        <a:off x="0" y="3638258"/>
        <a:ext cx="5607050" cy="1711988"/>
      </dsp:txXfrm>
    </dsp:sp>
    <dsp:sp modelId="{9A47E71F-27C1-4916-80E9-00BD4FD78E57}">
      <dsp:nvSpPr>
        <dsp:cNvPr id="0" name=""/>
        <dsp:cNvSpPr/>
      </dsp:nvSpPr>
      <dsp:spPr>
        <a:xfrm rot="10800000">
          <a:off x="0" y="0"/>
          <a:ext cx="5607050" cy="3673066"/>
        </a:xfrm>
        <a:prstGeom prst="upArrowCallout">
          <a:avLst/>
        </a:prstGeom>
        <a:gradFill rotWithShape="0">
          <a:gsLst>
            <a:gs pos="0">
              <a:schemeClr val="accent2">
                <a:hueOff val="-10351888"/>
                <a:satOff val="45859"/>
                <a:lumOff val="-16864"/>
                <a:alphaOff val="0"/>
                <a:tint val="97000"/>
                <a:satMod val="100000"/>
                <a:lumMod val="102000"/>
              </a:schemeClr>
            </a:gs>
            <a:gs pos="50000">
              <a:schemeClr val="accent2">
                <a:hueOff val="-10351888"/>
                <a:satOff val="45859"/>
                <a:lumOff val="-16864"/>
                <a:alphaOff val="0"/>
                <a:shade val="100000"/>
                <a:satMod val="103000"/>
                <a:lumMod val="100000"/>
              </a:schemeClr>
            </a:gs>
            <a:gs pos="100000">
              <a:schemeClr val="accent2">
                <a:hueOff val="-10351888"/>
                <a:satOff val="45859"/>
                <a:lumOff val="-16864"/>
                <a:alphaOff val="0"/>
                <a:shade val="93000"/>
                <a:satMod val="110000"/>
                <a:lumMod val="99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CA" sz="2500" kern="1200" dirty="0"/>
            <a:t>Used Vehicles Market has a great number of variables used by the buyers when they decide to select a new car. Not only manufacturer, engine power, model, and size, but also condition, odometer, year, and so on.</a:t>
          </a:r>
          <a:endParaRPr lang="en-US" sz="2500" kern="1200" dirty="0"/>
        </a:p>
      </dsp:txBody>
      <dsp:txXfrm rot="10800000">
        <a:off x="0" y="0"/>
        <a:ext cx="5607050" cy="238664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E4E758-77F6-4D9C-AF35-3A7861BCA8CF}">
      <dsp:nvSpPr>
        <dsp:cNvPr id="0" name=""/>
        <dsp:cNvSpPr/>
      </dsp:nvSpPr>
      <dsp:spPr>
        <a:xfrm>
          <a:off x="0" y="1440"/>
          <a:ext cx="6840000" cy="673920"/>
        </a:xfrm>
        <a:prstGeom prst="roundRect">
          <a:avLst/>
        </a:prstGeom>
        <a:gradFill rotWithShape="0">
          <a:gsLst>
            <a:gs pos="0">
              <a:schemeClr val="accent5">
                <a:hueOff val="0"/>
                <a:satOff val="0"/>
                <a:lumOff val="0"/>
                <a:alphaOff val="0"/>
                <a:tint val="97000"/>
                <a:satMod val="100000"/>
                <a:lumMod val="102000"/>
              </a:schemeClr>
            </a:gs>
            <a:gs pos="50000">
              <a:schemeClr val="accent5">
                <a:hueOff val="0"/>
                <a:satOff val="0"/>
                <a:lumOff val="0"/>
                <a:alphaOff val="0"/>
                <a:shade val="100000"/>
                <a:satMod val="103000"/>
                <a:lumMod val="100000"/>
              </a:schemeClr>
            </a:gs>
            <a:gs pos="100000">
              <a:schemeClr val="accent5">
                <a:hueOff val="0"/>
                <a:satOff val="0"/>
                <a:lumOff val="0"/>
                <a:alphaOff val="0"/>
                <a:shade val="93000"/>
                <a:satMod val="110000"/>
                <a:lumMod val="99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CA" sz="1400" kern="1200" dirty="0"/>
            <a:t>Deleted all rows with ‘Null’ values on explanatory variables – These are incomplete entries that can add noise to the model</a:t>
          </a:r>
          <a:endParaRPr lang="en-US" sz="1400" kern="1200" dirty="0"/>
        </a:p>
      </dsp:txBody>
      <dsp:txXfrm>
        <a:off x="32898" y="34338"/>
        <a:ext cx="6774204" cy="608124"/>
      </dsp:txXfrm>
    </dsp:sp>
    <dsp:sp modelId="{D9E18ADB-53CB-4EA7-91B8-90EBBD71444F}">
      <dsp:nvSpPr>
        <dsp:cNvPr id="0" name=""/>
        <dsp:cNvSpPr/>
      </dsp:nvSpPr>
      <dsp:spPr>
        <a:xfrm>
          <a:off x="0" y="779040"/>
          <a:ext cx="6840000" cy="673920"/>
        </a:xfrm>
        <a:prstGeom prst="roundRect">
          <a:avLst/>
        </a:prstGeom>
        <a:gradFill rotWithShape="0">
          <a:gsLst>
            <a:gs pos="0">
              <a:schemeClr val="accent5">
                <a:hueOff val="-34268"/>
                <a:satOff val="-1271"/>
                <a:lumOff val="2017"/>
                <a:alphaOff val="0"/>
                <a:tint val="97000"/>
                <a:satMod val="100000"/>
                <a:lumMod val="102000"/>
              </a:schemeClr>
            </a:gs>
            <a:gs pos="50000">
              <a:schemeClr val="accent5">
                <a:hueOff val="-34268"/>
                <a:satOff val="-1271"/>
                <a:lumOff val="2017"/>
                <a:alphaOff val="0"/>
                <a:shade val="100000"/>
                <a:satMod val="103000"/>
                <a:lumMod val="100000"/>
              </a:schemeClr>
            </a:gs>
            <a:gs pos="100000">
              <a:schemeClr val="accent5">
                <a:hueOff val="-34268"/>
                <a:satOff val="-1271"/>
                <a:lumOff val="2017"/>
                <a:alphaOff val="0"/>
                <a:shade val="93000"/>
                <a:satMod val="110000"/>
                <a:lumMod val="99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CA" sz="1400" kern="1200" dirty="0"/>
            <a:t>Deleted all rows referring to “utility” as the vehicle Type (“truck” and “bus”) – These Type categories will not be covered by the predictive model</a:t>
          </a:r>
          <a:endParaRPr lang="en-US" sz="1400" kern="1200" dirty="0"/>
        </a:p>
      </dsp:txBody>
      <dsp:txXfrm>
        <a:off x="32898" y="811938"/>
        <a:ext cx="6774204" cy="608124"/>
      </dsp:txXfrm>
    </dsp:sp>
    <dsp:sp modelId="{C843F4DA-94F5-49AA-A894-5F7BCB12D519}">
      <dsp:nvSpPr>
        <dsp:cNvPr id="0" name=""/>
        <dsp:cNvSpPr/>
      </dsp:nvSpPr>
      <dsp:spPr>
        <a:xfrm>
          <a:off x="0" y="1556640"/>
          <a:ext cx="6840000" cy="673920"/>
        </a:xfrm>
        <a:prstGeom prst="roundRect">
          <a:avLst/>
        </a:prstGeom>
        <a:gradFill rotWithShape="0">
          <a:gsLst>
            <a:gs pos="0">
              <a:schemeClr val="accent5">
                <a:hueOff val="-68535"/>
                <a:satOff val="-2542"/>
                <a:lumOff val="4033"/>
                <a:alphaOff val="0"/>
                <a:tint val="97000"/>
                <a:satMod val="100000"/>
                <a:lumMod val="102000"/>
              </a:schemeClr>
            </a:gs>
            <a:gs pos="50000">
              <a:schemeClr val="accent5">
                <a:hueOff val="-68535"/>
                <a:satOff val="-2542"/>
                <a:lumOff val="4033"/>
                <a:alphaOff val="0"/>
                <a:shade val="100000"/>
                <a:satMod val="103000"/>
                <a:lumMod val="100000"/>
              </a:schemeClr>
            </a:gs>
            <a:gs pos="100000">
              <a:schemeClr val="accent5">
                <a:hueOff val="-68535"/>
                <a:satOff val="-2542"/>
                <a:lumOff val="4033"/>
                <a:alphaOff val="0"/>
                <a:shade val="93000"/>
                <a:satMod val="110000"/>
                <a:lumMod val="99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CA" sz="1400" kern="1200" dirty="0"/>
            <a:t>Aggregate all “exotic” or rare colors (“orange”, “yellow”, “purple”, and “custom”) into one unique category</a:t>
          </a:r>
          <a:endParaRPr lang="en-US" sz="1400" kern="1200" dirty="0"/>
        </a:p>
      </dsp:txBody>
      <dsp:txXfrm>
        <a:off x="32898" y="1589538"/>
        <a:ext cx="6774204" cy="608124"/>
      </dsp:txXfrm>
    </dsp:sp>
    <dsp:sp modelId="{D702FC77-64D5-48DA-A32A-1BD0A83CEB68}">
      <dsp:nvSpPr>
        <dsp:cNvPr id="0" name=""/>
        <dsp:cNvSpPr/>
      </dsp:nvSpPr>
      <dsp:spPr>
        <a:xfrm>
          <a:off x="0" y="2334240"/>
          <a:ext cx="6840000" cy="673920"/>
        </a:xfrm>
        <a:prstGeom prst="roundRect">
          <a:avLst/>
        </a:prstGeom>
        <a:gradFill rotWithShape="0">
          <a:gsLst>
            <a:gs pos="0">
              <a:schemeClr val="accent5">
                <a:hueOff val="-102803"/>
                <a:satOff val="-3813"/>
                <a:lumOff val="6050"/>
                <a:alphaOff val="0"/>
                <a:tint val="97000"/>
                <a:satMod val="100000"/>
                <a:lumMod val="102000"/>
              </a:schemeClr>
            </a:gs>
            <a:gs pos="50000">
              <a:schemeClr val="accent5">
                <a:hueOff val="-102803"/>
                <a:satOff val="-3813"/>
                <a:lumOff val="6050"/>
                <a:alphaOff val="0"/>
                <a:shade val="100000"/>
                <a:satMod val="103000"/>
                <a:lumMod val="100000"/>
              </a:schemeClr>
            </a:gs>
            <a:gs pos="100000">
              <a:schemeClr val="accent5">
                <a:hueOff val="-102803"/>
                <a:satOff val="-3813"/>
                <a:lumOff val="6050"/>
                <a:alphaOff val="0"/>
                <a:shade val="93000"/>
                <a:satMod val="110000"/>
                <a:lumMod val="99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CA" sz="1400" kern="1200" dirty="0"/>
            <a:t>Deleted all “unreal” car prices (less than $ 1,000) – Probably it is a Click Bait</a:t>
          </a:r>
          <a:endParaRPr lang="en-US" sz="1400" kern="1200" dirty="0"/>
        </a:p>
      </dsp:txBody>
      <dsp:txXfrm>
        <a:off x="32898" y="2367138"/>
        <a:ext cx="6774204" cy="608124"/>
      </dsp:txXfrm>
    </dsp:sp>
    <dsp:sp modelId="{E6132B34-66F5-4106-92F6-2D50B0C53C58}">
      <dsp:nvSpPr>
        <dsp:cNvPr id="0" name=""/>
        <dsp:cNvSpPr/>
      </dsp:nvSpPr>
      <dsp:spPr>
        <a:xfrm>
          <a:off x="0" y="3111840"/>
          <a:ext cx="6840000" cy="673920"/>
        </a:xfrm>
        <a:prstGeom prst="roundRect">
          <a:avLst/>
        </a:prstGeom>
        <a:gradFill rotWithShape="0">
          <a:gsLst>
            <a:gs pos="0">
              <a:schemeClr val="accent5">
                <a:hueOff val="-137070"/>
                <a:satOff val="-5084"/>
                <a:lumOff val="8067"/>
                <a:alphaOff val="0"/>
                <a:tint val="97000"/>
                <a:satMod val="100000"/>
                <a:lumMod val="102000"/>
              </a:schemeClr>
            </a:gs>
            <a:gs pos="50000">
              <a:schemeClr val="accent5">
                <a:hueOff val="-137070"/>
                <a:satOff val="-5084"/>
                <a:lumOff val="8067"/>
                <a:alphaOff val="0"/>
                <a:shade val="100000"/>
                <a:satMod val="103000"/>
                <a:lumMod val="100000"/>
              </a:schemeClr>
            </a:gs>
            <a:gs pos="100000">
              <a:schemeClr val="accent5">
                <a:hueOff val="-137070"/>
                <a:satOff val="-5084"/>
                <a:lumOff val="8067"/>
                <a:alphaOff val="0"/>
                <a:shade val="93000"/>
                <a:satMod val="110000"/>
                <a:lumMod val="99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CA" sz="1400" kern="1200" dirty="0"/>
            <a:t>Deleted all rows with no odometer information – It can be also a Click Bait</a:t>
          </a:r>
          <a:endParaRPr lang="en-US" sz="1400" kern="1200" dirty="0"/>
        </a:p>
      </dsp:txBody>
      <dsp:txXfrm>
        <a:off x="32898" y="3144738"/>
        <a:ext cx="6774204" cy="608124"/>
      </dsp:txXfrm>
    </dsp:sp>
    <dsp:sp modelId="{34B39131-C0B0-466E-8DA4-48F08567FA11}">
      <dsp:nvSpPr>
        <dsp:cNvPr id="0" name=""/>
        <dsp:cNvSpPr/>
      </dsp:nvSpPr>
      <dsp:spPr>
        <a:xfrm>
          <a:off x="0" y="3889440"/>
          <a:ext cx="6840000" cy="673920"/>
        </a:xfrm>
        <a:prstGeom prst="roundRect">
          <a:avLst/>
        </a:prstGeom>
        <a:gradFill rotWithShape="0">
          <a:gsLst>
            <a:gs pos="0">
              <a:schemeClr val="accent5">
                <a:hueOff val="-171338"/>
                <a:satOff val="-6355"/>
                <a:lumOff val="10084"/>
                <a:alphaOff val="0"/>
                <a:tint val="97000"/>
                <a:satMod val="100000"/>
                <a:lumMod val="102000"/>
              </a:schemeClr>
            </a:gs>
            <a:gs pos="50000">
              <a:schemeClr val="accent5">
                <a:hueOff val="-171338"/>
                <a:satOff val="-6355"/>
                <a:lumOff val="10084"/>
                <a:alphaOff val="0"/>
                <a:shade val="100000"/>
                <a:satMod val="103000"/>
                <a:lumMod val="100000"/>
              </a:schemeClr>
            </a:gs>
            <a:gs pos="100000">
              <a:schemeClr val="accent5">
                <a:hueOff val="-171338"/>
                <a:satOff val="-6355"/>
                <a:lumOff val="10084"/>
                <a:alphaOff val="0"/>
                <a:shade val="93000"/>
                <a:satMod val="110000"/>
                <a:lumMod val="99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CA" sz="1400" kern="1200" dirty="0"/>
            <a:t>Deleted all rows with “other” in cylinders, fuel, transmission, and type – Precise information needed for prediction is not available in these cases</a:t>
          </a:r>
          <a:endParaRPr lang="en-US" sz="1400" kern="1200" dirty="0"/>
        </a:p>
      </dsp:txBody>
      <dsp:txXfrm>
        <a:off x="32898" y="3922338"/>
        <a:ext cx="6774204" cy="608124"/>
      </dsp:txXfrm>
    </dsp:sp>
    <dsp:sp modelId="{59F294BA-6AAF-4216-8B01-512E3B36ECA4}">
      <dsp:nvSpPr>
        <dsp:cNvPr id="0" name=""/>
        <dsp:cNvSpPr/>
      </dsp:nvSpPr>
      <dsp:spPr>
        <a:xfrm>
          <a:off x="0" y="4667039"/>
          <a:ext cx="6840000" cy="673920"/>
        </a:xfrm>
        <a:prstGeom prst="roundRect">
          <a:avLst/>
        </a:prstGeom>
        <a:gradFill rotWithShape="0">
          <a:gsLst>
            <a:gs pos="0">
              <a:schemeClr val="accent5">
                <a:hueOff val="-205605"/>
                <a:satOff val="-7626"/>
                <a:lumOff val="12100"/>
                <a:alphaOff val="0"/>
                <a:tint val="97000"/>
                <a:satMod val="100000"/>
                <a:lumMod val="102000"/>
              </a:schemeClr>
            </a:gs>
            <a:gs pos="50000">
              <a:schemeClr val="accent5">
                <a:hueOff val="-205605"/>
                <a:satOff val="-7626"/>
                <a:lumOff val="12100"/>
                <a:alphaOff val="0"/>
                <a:shade val="100000"/>
                <a:satMod val="103000"/>
                <a:lumMod val="100000"/>
              </a:schemeClr>
            </a:gs>
            <a:gs pos="100000">
              <a:schemeClr val="accent5">
                <a:hueOff val="-205605"/>
                <a:satOff val="-7626"/>
                <a:lumOff val="12100"/>
                <a:alphaOff val="0"/>
                <a:shade val="93000"/>
                <a:satMod val="110000"/>
                <a:lumMod val="99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CA" sz="1400" kern="1200"/>
            <a:t>Deleted all rows which manufacturer has low quantity of vehicles ("tesla", "harley-davidson", "alfa-romeo", "datsun", "ferrari", "land rover", "aston-martin", and "porche“)</a:t>
          </a:r>
          <a:endParaRPr lang="en-US" sz="1400" kern="1200"/>
        </a:p>
      </dsp:txBody>
      <dsp:txXfrm>
        <a:off x="32898" y="4699937"/>
        <a:ext cx="6774204" cy="608124"/>
      </dsp:txXfrm>
    </dsp:sp>
    <dsp:sp modelId="{E486A6FF-9DBD-4094-92A1-979EAEF2D93F}">
      <dsp:nvSpPr>
        <dsp:cNvPr id="0" name=""/>
        <dsp:cNvSpPr/>
      </dsp:nvSpPr>
      <dsp:spPr>
        <a:xfrm>
          <a:off x="0" y="5444640"/>
          <a:ext cx="6840000" cy="673920"/>
        </a:xfrm>
        <a:prstGeom prst="roundRect">
          <a:avLst/>
        </a:prstGeom>
        <a:gradFill rotWithShape="0">
          <a:gsLst>
            <a:gs pos="0">
              <a:schemeClr val="accent5">
                <a:hueOff val="-239873"/>
                <a:satOff val="-8897"/>
                <a:lumOff val="14117"/>
                <a:alphaOff val="0"/>
                <a:tint val="97000"/>
                <a:satMod val="100000"/>
                <a:lumMod val="102000"/>
              </a:schemeClr>
            </a:gs>
            <a:gs pos="50000">
              <a:schemeClr val="accent5">
                <a:hueOff val="-239873"/>
                <a:satOff val="-8897"/>
                <a:lumOff val="14117"/>
                <a:alphaOff val="0"/>
                <a:shade val="100000"/>
                <a:satMod val="103000"/>
                <a:lumMod val="100000"/>
              </a:schemeClr>
            </a:gs>
            <a:gs pos="100000">
              <a:schemeClr val="accent5">
                <a:hueOff val="-239873"/>
                <a:satOff val="-8897"/>
                <a:lumOff val="14117"/>
                <a:alphaOff val="0"/>
                <a:shade val="93000"/>
                <a:satMod val="110000"/>
                <a:lumMod val="99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CA" sz="1400" kern="1200" dirty="0"/>
            <a:t>Aggregation of “fair” into “good” Condition, and “like new” into “new” Condition</a:t>
          </a:r>
          <a:endParaRPr lang="en-US" sz="1400" kern="1200" dirty="0"/>
        </a:p>
      </dsp:txBody>
      <dsp:txXfrm>
        <a:off x="32898" y="5477538"/>
        <a:ext cx="6774204" cy="608124"/>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CE43AB52-5C68-4B99-8FC5-8651DDEF45A6}" type="datetimeFigureOut">
              <a:rPr lang="en-CA" smtClean="0"/>
              <a:t>2020-11-25</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E2B1B1AB-1F90-41B5-9DB7-7E3A54DE2938}" type="slidenum">
              <a:rPr lang="en-CA" smtClean="0"/>
              <a:t>‹#›</a:t>
            </a:fld>
            <a:endParaRPr lang="en-CA"/>
          </a:p>
        </p:txBody>
      </p:sp>
    </p:spTree>
    <p:extLst>
      <p:ext uri="{BB962C8B-B14F-4D97-AF65-F5344CB8AC3E}">
        <p14:creationId xmlns:p14="http://schemas.microsoft.com/office/powerpoint/2010/main" val="132628303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E43AB52-5C68-4B99-8FC5-8651DDEF45A6}" type="datetimeFigureOut">
              <a:rPr lang="en-CA" smtClean="0"/>
              <a:t>2020-11-25</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E2B1B1AB-1F90-41B5-9DB7-7E3A54DE2938}" type="slidenum">
              <a:rPr lang="en-CA" smtClean="0"/>
              <a:t>‹#›</a:t>
            </a:fld>
            <a:endParaRPr lang="en-CA"/>
          </a:p>
        </p:txBody>
      </p:sp>
    </p:spTree>
    <p:extLst>
      <p:ext uri="{BB962C8B-B14F-4D97-AF65-F5344CB8AC3E}">
        <p14:creationId xmlns:p14="http://schemas.microsoft.com/office/powerpoint/2010/main" val="2287836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CE43AB52-5C68-4B99-8FC5-8651DDEF45A6}" type="datetimeFigureOut">
              <a:rPr lang="en-CA" smtClean="0"/>
              <a:t>2020-11-25</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E2B1B1AB-1F90-41B5-9DB7-7E3A54DE2938}" type="slidenum">
              <a:rPr lang="en-CA" smtClean="0"/>
              <a:t>‹#›</a:t>
            </a:fld>
            <a:endParaRPr lang="en-CA"/>
          </a:p>
        </p:txBody>
      </p:sp>
    </p:spTree>
    <p:extLst>
      <p:ext uri="{BB962C8B-B14F-4D97-AF65-F5344CB8AC3E}">
        <p14:creationId xmlns:p14="http://schemas.microsoft.com/office/powerpoint/2010/main" val="366736201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CE43AB52-5C68-4B99-8FC5-8651DDEF45A6}" type="datetimeFigureOut">
              <a:rPr lang="en-CA" smtClean="0"/>
              <a:t>2020-11-25</a:t>
            </a:fld>
            <a:endParaRPr lang="en-CA"/>
          </a:p>
        </p:txBody>
      </p:sp>
      <p:sp>
        <p:nvSpPr>
          <p:cNvPr id="9" name="Footer Placeholder 8"/>
          <p:cNvSpPr>
            <a:spLocks noGrp="1"/>
          </p:cNvSpPr>
          <p:nvPr>
            <p:ph type="ftr" sz="quarter" idx="11"/>
          </p:nvPr>
        </p:nvSpPr>
        <p:spPr/>
        <p:txBody>
          <a:bodyPr/>
          <a:lstStyle/>
          <a:p>
            <a:endParaRPr lang="en-CA"/>
          </a:p>
        </p:txBody>
      </p:sp>
      <p:sp>
        <p:nvSpPr>
          <p:cNvPr id="10" name="Slide Number Placeholder 9"/>
          <p:cNvSpPr>
            <a:spLocks noGrp="1"/>
          </p:cNvSpPr>
          <p:nvPr>
            <p:ph type="sldNum" sz="quarter" idx="12"/>
          </p:nvPr>
        </p:nvSpPr>
        <p:spPr/>
        <p:txBody>
          <a:bodyPr/>
          <a:lstStyle/>
          <a:p>
            <a:fld id="{E2B1B1AB-1F90-41B5-9DB7-7E3A54DE2938}" type="slidenum">
              <a:rPr lang="en-CA" smtClean="0"/>
              <a:t>‹#›</a:t>
            </a:fld>
            <a:endParaRPr lang="en-CA"/>
          </a:p>
        </p:txBody>
      </p:sp>
    </p:spTree>
    <p:extLst>
      <p:ext uri="{BB962C8B-B14F-4D97-AF65-F5344CB8AC3E}">
        <p14:creationId xmlns:p14="http://schemas.microsoft.com/office/powerpoint/2010/main" val="2813402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CE43AB52-5C68-4B99-8FC5-8651DDEF45A6}" type="datetimeFigureOut">
              <a:rPr lang="en-CA" smtClean="0"/>
              <a:t>2020-11-25</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E2B1B1AB-1F90-41B5-9DB7-7E3A54DE2938}" type="slidenum">
              <a:rPr lang="en-CA" smtClean="0"/>
              <a:t>‹#›</a:t>
            </a:fld>
            <a:endParaRPr lang="en-CA"/>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9387313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E43AB52-5C68-4B99-8FC5-8651DDEF45A6}" type="datetimeFigureOut">
              <a:rPr lang="en-CA" smtClean="0"/>
              <a:t>2020-11-25</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E2B1B1AB-1F90-41B5-9DB7-7E3A54DE2938}" type="slidenum">
              <a:rPr lang="en-CA" smtClean="0"/>
              <a:t>‹#›</a:t>
            </a:fld>
            <a:endParaRPr lang="en-CA"/>
          </a:p>
        </p:txBody>
      </p:sp>
    </p:spTree>
    <p:extLst>
      <p:ext uri="{BB962C8B-B14F-4D97-AF65-F5344CB8AC3E}">
        <p14:creationId xmlns:p14="http://schemas.microsoft.com/office/powerpoint/2010/main" val="9593323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43AB52-5C68-4B99-8FC5-8651DDEF45A6}" type="datetimeFigureOut">
              <a:rPr lang="en-CA" smtClean="0"/>
              <a:t>2020-11-25</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E2B1B1AB-1F90-41B5-9DB7-7E3A54DE2938}" type="slidenum">
              <a:rPr lang="en-CA" smtClean="0"/>
              <a:t>‹#›</a:t>
            </a:fld>
            <a:endParaRPr lang="en-CA"/>
          </a:p>
        </p:txBody>
      </p:sp>
    </p:spTree>
    <p:extLst>
      <p:ext uri="{BB962C8B-B14F-4D97-AF65-F5344CB8AC3E}">
        <p14:creationId xmlns:p14="http://schemas.microsoft.com/office/powerpoint/2010/main" val="18325487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CE43AB52-5C68-4B99-8FC5-8651DDEF45A6}" type="datetimeFigureOut">
              <a:rPr lang="en-CA" smtClean="0"/>
              <a:t>2020-11-25</a:t>
            </a:fld>
            <a:endParaRPr lang="en-CA"/>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CA"/>
          </a:p>
        </p:txBody>
      </p:sp>
      <p:sp>
        <p:nvSpPr>
          <p:cNvPr id="11" name="Slide Number Placeholder 10"/>
          <p:cNvSpPr>
            <a:spLocks noGrp="1"/>
          </p:cNvSpPr>
          <p:nvPr>
            <p:ph type="sldNum" sz="quarter" idx="12"/>
          </p:nvPr>
        </p:nvSpPr>
        <p:spPr/>
        <p:txBody>
          <a:bodyPr/>
          <a:lstStyle/>
          <a:p>
            <a:fld id="{E2B1B1AB-1F90-41B5-9DB7-7E3A54DE2938}" type="slidenum">
              <a:rPr lang="en-CA" smtClean="0"/>
              <a:t>‹#›</a:t>
            </a:fld>
            <a:endParaRPr lang="en-CA"/>
          </a:p>
        </p:txBody>
      </p:sp>
    </p:spTree>
    <p:extLst>
      <p:ext uri="{BB962C8B-B14F-4D97-AF65-F5344CB8AC3E}">
        <p14:creationId xmlns:p14="http://schemas.microsoft.com/office/powerpoint/2010/main" val="34587670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CE43AB52-5C68-4B99-8FC5-8651DDEF45A6}" type="datetimeFigureOut">
              <a:rPr lang="en-CA" smtClean="0"/>
              <a:t>2020-11-25</a:t>
            </a:fld>
            <a:endParaRPr lang="en-CA"/>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CA"/>
          </a:p>
        </p:txBody>
      </p:sp>
      <p:sp>
        <p:nvSpPr>
          <p:cNvPr id="10" name="Slide Number Placeholder 9"/>
          <p:cNvSpPr>
            <a:spLocks noGrp="1"/>
          </p:cNvSpPr>
          <p:nvPr>
            <p:ph type="sldNum" sz="quarter" idx="12"/>
          </p:nvPr>
        </p:nvSpPr>
        <p:spPr/>
        <p:txBody>
          <a:bodyPr/>
          <a:lstStyle/>
          <a:p>
            <a:fld id="{E2B1B1AB-1F90-41B5-9DB7-7E3A54DE2938}" type="slidenum">
              <a:rPr lang="en-CA" smtClean="0"/>
              <a:t>‹#›</a:t>
            </a:fld>
            <a:endParaRPr lang="en-CA"/>
          </a:p>
        </p:txBody>
      </p:sp>
    </p:spTree>
    <p:extLst>
      <p:ext uri="{BB962C8B-B14F-4D97-AF65-F5344CB8AC3E}">
        <p14:creationId xmlns:p14="http://schemas.microsoft.com/office/powerpoint/2010/main" val="1376773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E43AB52-5C68-4B99-8FC5-8651DDEF45A6}" type="datetimeFigureOut">
              <a:rPr lang="en-CA" smtClean="0"/>
              <a:t>2020-11-25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2B1B1AB-1F90-41B5-9DB7-7E3A54DE2938}" type="slidenum">
              <a:rPr lang="en-CA" smtClean="0"/>
              <a:t>‹#›</a:t>
            </a:fld>
            <a:endParaRPr lang="en-CA"/>
          </a:p>
        </p:txBody>
      </p:sp>
    </p:spTree>
    <p:extLst>
      <p:ext uri="{BB962C8B-B14F-4D97-AF65-F5344CB8AC3E}">
        <p14:creationId xmlns:p14="http://schemas.microsoft.com/office/powerpoint/2010/main" val="30253069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E43AB52-5C68-4B99-8FC5-8651DDEF45A6}" type="datetimeFigureOut">
              <a:rPr lang="en-CA" smtClean="0"/>
              <a:t>2020-11-25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2B1B1AB-1F90-41B5-9DB7-7E3A54DE2938}" type="slidenum">
              <a:rPr lang="en-CA" smtClean="0"/>
              <a:t>‹#›</a:t>
            </a:fld>
            <a:endParaRPr lang="en-CA"/>
          </a:p>
        </p:txBody>
      </p:sp>
    </p:spTree>
    <p:extLst>
      <p:ext uri="{BB962C8B-B14F-4D97-AF65-F5344CB8AC3E}">
        <p14:creationId xmlns:p14="http://schemas.microsoft.com/office/powerpoint/2010/main" val="42221088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CE43AB52-5C68-4B99-8FC5-8651DDEF45A6}" type="datetimeFigureOut">
              <a:rPr lang="en-CA" smtClean="0"/>
              <a:t>2020-11-25</a:t>
            </a:fld>
            <a:endParaRPr lang="en-CA"/>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CA"/>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E2B1B1AB-1F90-41B5-9DB7-7E3A54DE2938}" type="slidenum">
              <a:rPr lang="en-CA" smtClean="0"/>
              <a:t>‹#›</a:t>
            </a:fld>
            <a:endParaRPr lang="en-CA"/>
          </a:p>
        </p:txBody>
      </p:sp>
    </p:spTree>
    <p:extLst>
      <p:ext uri="{BB962C8B-B14F-4D97-AF65-F5344CB8AC3E}">
        <p14:creationId xmlns:p14="http://schemas.microsoft.com/office/powerpoint/2010/main" val="24686612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kaggle.com/austinreese/craigslist-carstrucks-data"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image" Target="../media/image4.tmp"/><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tmp"/><Relationship Id="rId2" Type="http://schemas.openxmlformats.org/officeDocument/2006/relationships/image" Target="../media/image6.tmp"/><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tmp"/><Relationship Id="rId2" Type="http://schemas.openxmlformats.org/officeDocument/2006/relationships/image" Target="../media/image8.tmp"/><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tmp"/><Relationship Id="rId2" Type="http://schemas.openxmlformats.org/officeDocument/2006/relationships/image" Target="../media/image10.tmp"/><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3" Type="http://schemas.openxmlformats.org/officeDocument/2006/relationships/image" Target="../media/image12.tmp"/><Relationship Id="rId2" Type="http://schemas.openxmlformats.org/officeDocument/2006/relationships/image" Target="../media/image11.tmp"/><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tmp"/><Relationship Id="rId2" Type="http://schemas.openxmlformats.org/officeDocument/2006/relationships/image" Target="../media/image13.tmp"/><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tmp"/><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tmp"/><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F47E20B-1205-4238-A82B-90EF577F32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13567AC-EB9A-47A9-B6EC-B5BDB73B11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534649"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0DE035-376E-4998-B097-A5E216E60997}"/>
              </a:ext>
            </a:extLst>
          </p:cNvPr>
          <p:cNvSpPr>
            <a:spLocks noGrp="1"/>
          </p:cNvSpPr>
          <p:nvPr>
            <p:ph type="ctrTitle"/>
          </p:nvPr>
        </p:nvSpPr>
        <p:spPr>
          <a:xfrm>
            <a:off x="336104" y="973732"/>
            <a:ext cx="6862439" cy="3263119"/>
          </a:xfrm>
          <a:noFill/>
          <a:ln>
            <a:solidFill>
              <a:schemeClr val="bg1"/>
            </a:solidFill>
          </a:ln>
        </p:spPr>
        <p:txBody>
          <a:bodyPr>
            <a:normAutofit fontScale="90000"/>
          </a:bodyPr>
          <a:lstStyle/>
          <a:p>
            <a:r>
              <a:rPr lang="en-CA" sz="2000" dirty="0">
                <a:solidFill>
                  <a:schemeClr val="bg1"/>
                </a:solidFill>
              </a:rPr>
              <a:t>CSIS 4260 – Special Topics in Data Analytics</a:t>
            </a:r>
            <a:br>
              <a:rPr lang="en-CA" sz="2200" dirty="0">
                <a:solidFill>
                  <a:schemeClr val="bg1"/>
                </a:solidFill>
              </a:rPr>
            </a:br>
            <a:br>
              <a:rPr lang="en-CA" sz="2200" dirty="0">
                <a:solidFill>
                  <a:schemeClr val="bg1"/>
                </a:solidFill>
              </a:rPr>
            </a:br>
            <a:r>
              <a:rPr lang="en-CA" sz="2000" dirty="0">
                <a:solidFill>
                  <a:schemeClr val="bg1"/>
                </a:solidFill>
              </a:rPr>
              <a:t>Prof. Nikhil Bhardwaj</a:t>
            </a:r>
            <a:br>
              <a:rPr lang="en-CA" sz="2200" dirty="0">
                <a:solidFill>
                  <a:schemeClr val="bg1"/>
                </a:solidFill>
              </a:rPr>
            </a:br>
            <a:br>
              <a:rPr lang="en-CA" sz="2200" dirty="0">
                <a:solidFill>
                  <a:schemeClr val="bg1"/>
                </a:solidFill>
              </a:rPr>
            </a:br>
            <a:br>
              <a:rPr lang="en-CA" sz="2200" dirty="0">
                <a:solidFill>
                  <a:schemeClr val="bg1"/>
                </a:solidFill>
              </a:rPr>
            </a:br>
            <a:r>
              <a:rPr lang="en-CA" sz="3300" dirty="0">
                <a:solidFill>
                  <a:schemeClr val="bg1"/>
                </a:solidFill>
              </a:rPr>
              <a:t>Predicting Used Car Sales Price using Linear Regression Models</a:t>
            </a:r>
          </a:p>
        </p:txBody>
      </p:sp>
      <p:sp>
        <p:nvSpPr>
          <p:cNvPr id="3" name="Subtitle 2">
            <a:extLst>
              <a:ext uri="{FF2B5EF4-FFF2-40B4-BE49-F238E27FC236}">
                <a16:creationId xmlns:a16="http://schemas.microsoft.com/office/drawing/2014/main" id="{C96F43EA-2215-4F06-9DD6-EB5BA6273270}"/>
              </a:ext>
            </a:extLst>
          </p:cNvPr>
          <p:cNvSpPr>
            <a:spLocks noGrp="1"/>
          </p:cNvSpPr>
          <p:nvPr>
            <p:ph type="subTitle" idx="1"/>
          </p:nvPr>
        </p:nvSpPr>
        <p:spPr>
          <a:xfrm>
            <a:off x="811745" y="4684585"/>
            <a:ext cx="5911155" cy="1199683"/>
          </a:xfrm>
        </p:spPr>
        <p:txBody>
          <a:bodyPr>
            <a:normAutofit/>
          </a:bodyPr>
          <a:lstStyle/>
          <a:p>
            <a:r>
              <a:rPr lang="pt-BR" sz="1800" dirty="0">
                <a:solidFill>
                  <a:schemeClr val="bg1"/>
                </a:solidFill>
              </a:rPr>
              <a:t>Reynaldo Luiz Martins Junior (ID 300311277)</a:t>
            </a:r>
          </a:p>
          <a:p>
            <a:r>
              <a:rPr lang="pt-BR" sz="1800" dirty="0">
                <a:solidFill>
                  <a:schemeClr val="bg1"/>
                </a:solidFill>
              </a:rPr>
              <a:t>Ronaldo Aparecido de Oliveira (ID 300305192)</a:t>
            </a:r>
          </a:p>
        </p:txBody>
      </p:sp>
      <p:pic>
        <p:nvPicPr>
          <p:cNvPr id="7" name="Graphic 6" descr="Chart">
            <a:extLst>
              <a:ext uri="{FF2B5EF4-FFF2-40B4-BE49-F238E27FC236}">
                <a16:creationId xmlns:a16="http://schemas.microsoft.com/office/drawing/2014/main" id="{F82A2248-D032-4923-95EB-6BEBA3387E7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786798" y="2241000"/>
            <a:ext cx="2376000" cy="2376000"/>
          </a:xfrm>
          <a:prstGeom prst="rect">
            <a:avLst/>
          </a:prstGeom>
        </p:spPr>
      </p:pic>
    </p:spTree>
    <p:extLst>
      <p:ext uri="{BB962C8B-B14F-4D97-AF65-F5344CB8AC3E}">
        <p14:creationId xmlns:p14="http://schemas.microsoft.com/office/powerpoint/2010/main" val="3056123349"/>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3F0ADB5-A0B4-4B01-A8C4-FDC34CE22B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A6D0FDE-0241-4C21-A720-A694753582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C44347-6D27-42D6-9B7B-61A7D506E818}"/>
              </a:ext>
            </a:extLst>
          </p:cNvPr>
          <p:cNvSpPr>
            <a:spLocks noGrp="1"/>
          </p:cNvSpPr>
          <p:nvPr>
            <p:ph type="title"/>
          </p:nvPr>
        </p:nvSpPr>
        <p:spPr>
          <a:xfrm>
            <a:off x="643467" y="2681103"/>
            <a:ext cx="3363974" cy="1495794"/>
          </a:xfrm>
          <a:noFill/>
          <a:ln>
            <a:solidFill>
              <a:schemeClr val="bg1"/>
            </a:solidFill>
          </a:ln>
        </p:spPr>
        <p:txBody>
          <a:bodyPr wrap="square">
            <a:normAutofit/>
          </a:bodyPr>
          <a:lstStyle/>
          <a:p>
            <a:r>
              <a:rPr lang="en-CA">
                <a:solidFill>
                  <a:schemeClr val="bg1"/>
                </a:solidFill>
              </a:rPr>
              <a:t>Problem</a:t>
            </a:r>
          </a:p>
        </p:txBody>
      </p:sp>
      <p:graphicFrame>
        <p:nvGraphicFramePr>
          <p:cNvPr id="5" name="Content Placeholder 2">
            <a:extLst>
              <a:ext uri="{FF2B5EF4-FFF2-40B4-BE49-F238E27FC236}">
                <a16:creationId xmlns:a16="http://schemas.microsoft.com/office/drawing/2014/main" id="{60A3FCB3-8855-47A8-803E-EB740DDD34A6}"/>
              </a:ext>
            </a:extLst>
          </p:cNvPr>
          <p:cNvGraphicFramePr>
            <a:graphicFrameLocks noGrp="1"/>
          </p:cNvGraphicFramePr>
          <p:nvPr>
            <p:ph idx="1"/>
            <p:extLst>
              <p:ext uri="{D42A27DB-BD31-4B8C-83A1-F6EECF244321}">
                <p14:modId xmlns:p14="http://schemas.microsoft.com/office/powerpoint/2010/main" val="1995351639"/>
              </p:ext>
            </p:extLst>
          </p:nvPr>
        </p:nvGraphicFramePr>
        <p:xfrm>
          <a:off x="5619750" y="797914"/>
          <a:ext cx="5607050" cy="53512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947949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C44347-6D27-42D6-9B7B-61A7D506E818}"/>
              </a:ext>
            </a:extLst>
          </p:cNvPr>
          <p:cNvSpPr>
            <a:spLocks noGrp="1"/>
          </p:cNvSpPr>
          <p:nvPr>
            <p:ph type="title"/>
          </p:nvPr>
        </p:nvSpPr>
        <p:spPr>
          <a:xfrm>
            <a:off x="1269838" y="1586484"/>
            <a:ext cx="3685032" cy="3685032"/>
          </a:xfrm>
          <a:prstGeom prst="ellipse">
            <a:avLst/>
          </a:prstGeom>
          <a:solidFill>
            <a:schemeClr val="accent2">
              <a:lumMod val="75000"/>
            </a:schemeClr>
          </a:solidFill>
          <a:ln>
            <a:noFill/>
          </a:ln>
        </p:spPr>
        <p:txBody>
          <a:bodyPr>
            <a:normAutofit/>
          </a:bodyPr>
          <a:lstStyle/>
          <a:p>
            <a:r>
              <a:rPr lang="en-CA" sz="3000">
                <a:solidFill>
                  <a:srgbClr val="FFFFFF"/>
                </a:solidFill>
              </a:rPr>
              <a:t>Objective</a:t>
            </a:r>
          </a:p>
        </p:txBody>
      </p:sp>
      <p:sp>
        <p:nvSpPr>
          <p:cNvPr id="3" name="Content Placeholder 2">
            <a:extLst>
              <a:ext uri="{FF2B5EF4-FFF2-40B4-BE49-F238E27FC236}">
                <a16:creationId xmlns:a16="http://schemas.microsoft.com/office/drawing/2014/main" id="{35FE211B-8B1A-4060-9C41-B96C558C0070}"/>
              </a:ext>
            </a:extLst>
          </p:cNvPr>
          <p:cNvSpPr>
            <a:spLocks noGrp="1"/>
          </p:cNvSpPr>
          <p:nvPr>
            <p:ph idx="1"/>
          </p:nvPr>
        </p:nvSpPr>
        <p:spPr>
          <a:xfrm>
            <a:off x="5591695" y="1402080"/>
            <a:ext cx="5665190" cy="4053840"/>
          </a:xfrm>
        </p:spPr>
        <p:txBody>
          <a:bodyPr anchor="ctr">
            <a:normAutofit/>
          </a:bodyPr>
          <a:lstStyle/>
          <a:p>
            <a:pPr marL="0" indent="0">
              <a:buNone/>
            </a:pPr>
            <a:r>
              <a:rPr lang="en-CA" sz="2400" dirty="0"/>
              <a:t>Determine the final price of a specific used vehicle using a dataset with information of used vehicles obtained from Craigslist.org website, the world’s largest collection of used vehicles for sale.</a:t>
            </a:r>
          </a:p>
        </p:txBody>
      </p:sp>
    </p:spTree>
    <p:extLst>
      <p:ext uri="{BB962C8B-B14F-4D97-AF65-F5344CB8AC3E}">
        <p14:creationId xmlns:p14="http://schemas.microsoft.com/office/powerpoint/2010/main" val="12680193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useBgFill="1">
        <p:nvSpPr>
          <p:cNvPr id="16" name="Rectangle 9">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1">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C44347-6D27-42D6-9B7B-61A7D506E818}"/>
              </a:ext>
            </a:extLst>
          </p:cNvPr>
          <p:cNvSpPr>
            <a:spLocks noGrp="1"/>
          </p:cNvSpPr>
          <p:nvPr>
            <p:ph type="title"/>
          </p:nvPr>
        </p:nvSpPr>
        <p:spPr>
          <a:xfrm>
            <a:off x="643468" y="531047"/>
            <a:ext cx="3363974" cy="978157"/>
          </a:xfrm>
          <a:noFill/>
          <a:ln>
            <a:solidFill>
              <a:schemeClr val="bg1"/>
            </a:solidFill>
          </a:ln>
        </p:spPr>
        <p:txBody>
          <a:bodyPr wrap="square">
            <a:normAutofit/>
          </a:bodyPr>
          <a:lstStyle/>
          <a:p>
            <a:r>
              <a:rPr lang="en-CA" dirty="0">
                <a:solidFill>
                  <a:schemeClr val="bg1"/>
                </a:solidFill>
              </a:rPr>
              <a:t>Dataset</a:t>
            </a:r>
          </a:p>
        </p:txBody>
      </p:sp>
      <p:sp>
        <p:nvSpPr>
          <p:cNvPr id="3" name="Content Placeholder 2">
            <a:extLst>
              <a:ext uri="{FF2B5EF4-FFF2-40B4-BE49-F238E27FC236}">
                <a16:creationId xmlns:a16="http://schemas.microsoft.com/office/drawing/2014/main" id="{35FE211B-8B1A-4060-9C41-B96C558C0070}"/>
              </a:ext>
            </a:extLst>
          </p:cNvPr>
          <p:cNvSpPr>
            <a:spLocks noGrp="1"/>
          </p:cNvSpPr>
          <p:nvPr>
            <p:ph idx="1"/>
          </p:nvPr>
        </p:nvSpPr>
        <p:spPr>
          <a:xfrm>
            <a:off x="555477" y="1686756"/>
            <a:ext cx="3451965" cy="4714043"/>
          </a:xfrm>
        </p:spPr>
        <p:txBody>
          <a:bodyPr>
            <a:normAutofit/>
          </a:bodyPr>
          <a:lstStyle/>
          <a:p>
            <a:pPr>
              <a:lnSpc>
                <a:spcPct val="90000"/>
              </a:lnSpc>
              <a:spcBef>
                <a:spcPts val="600"/>
              </a:spcBef>
            </a:pPr>
            <a:r>
              <a:rPr lang="en-CA" sz="1400" dirty="0">
                <a:solidFill>
                  <a:schemeClr val="bg1"/>
                </a:solidFill>
              </a:rPr>
              <a:t>Original: 423,857 rows x 24 columns</a:t>
            </a:r>
          </a:p>
          <a:p>
            <a:pPr>
              <a:lnSpc>
                <a:spcPct val="90000"/>
              </a:lnSpc>
              <a:spcBef>
                <a:spcPts val="600"/>
              </a:spcBef>
            </a:pPr>
            <a:r>
              <a:rPr lang="en-CA" sz="1400" dirty="0">
                <a:solidFill>
                  <a:schemeClr val="bg1"/>
                </a:solidFill>
              </a:rPr>
              <a:t>Original Explanatory Variables Selected (11 columns):</a:t>
            </a:r>
          </a:p>
          <a:p>
            <a:pPr lvl="2">
              <a:lnSpc>
                <a:spcPct val="90000"/>
              </a:lnSpc>
              <a:spcBef>
                <a:spcPts val="600"/>
              </a:spcBef>
            </a:pPr>
            <a:r>
              <a:rPr lang="en-CA" sz="1400" dirty="0">
                <a:solidFill>
                  <a:schemeClr val="bg1"/>
                </a:solidFill>
              </a:rPr>
              <a:t>price</a:t>
            </a:r>
          </a:p>
          <a:p>
            <a:pPr lvl="2">
              <a:lnSpc>
                <a:spcPct val="90000"/>
              </a:lnSpc>
              <a:spcBef>
                <a:spcPts val="600"/>
              </a:spcBef>
            </a:pPr>
            <a:r>
              <a:rPr lang="en-CA" sz="1400" dirty="0">
                <a:solidFill>
                  <a:schemeClr val="bg1"/>
                </a:solidFill>
              </a:rPr>
              <a:t>year</a:t>
            </a:r>
          </a:p>
          <a:p>
            <a:pPr lvl="2">
              <a:lnSpc>
                <a:spcPct val="90000"/>
              </a:lnSpc>
              <a:spcBef>
                <a:spcPts val="600"/>
              </a:spcBef>
            </a:pPr>
            <a:r>
              <a:rPr lang="en-CA" sz="1400" dirty="0">
                <a:solidFill>
                  <a:schemeClr val="bg1"/>
                </a:solidFill>
              </a:rPr>
              <a:t>manufacturer</a:t>
            </a:r>
          </a:p>
          <a:p>
            <a:pPr lvl="2">
              <a:lnSpc>
                <a:spcPct val="90000"/>
              </a:lnSpc>
              <a:spcBef>
                <a:spcPts val="600"/>
              </a:spcBef>
            </a:pPr>
            <a:r>
              <a:rPr lang="en-CA" sz="1400" dirty="0">
                <a:solidFill>
                  <a:schemeClr val="bg1"/>
                </a:solidFill>
              </a:rPr>
              <a:t>condition</a:t>
            </a:r>
          </a:p>
          <a:p>
            <a:pPr lvl="2">
              <a:lnSpc>
                <a:spcPct val="90000"/>
              </a:lnSpc>
              <a:spcBef>
                <a:spcPts val="600"/>
              </a:spcBef>
            </a:pPr>
            <a:r>
              <a:rPr lang="en-CA" sz="1400" dirty="0">
                <a:solidFill>
                  <a:schemeClr val="bg1"/>
                </a:solidFill>
              </a:rPr>
              <a:t>cylinders</a:t>
            </a:r>
          </a:p>
          <a:p>
            <a:pPr lvl="2">
              <a:lnSpc>
                <a:spcPct val="90000"/>
              </a:lnSpc>
              <a:spcBef>
                <a:spcPts val="600"/>
              </a:spcBef>
            </a:pPr>
            <a:r>
              <a:rPr lang="en-CA" sz="1400" dirty="0">
                <a:solidFill>
                  <a:schemeClr val="bg1"/>
                </a:solidFill>
              </a:rPr>
              <a:t>fuel</a:t>
            </a:r>
          </a:p>
          <a:p>
            <a:pPr lvl="2">
              <a:lnSpc>
                <a:spcPct val="90000"/>
              </a:lnSpc>
              <a:spcBef>
                <a:spcPts val="600"/>
              </a:spcBef>
            </a:pPr>
            <a:r>
              <a:rPr lang="en-CA" sz="1400" dirty="0">
                <a:solidFill>
                  <a:schemeClr val="bg1"/>
                </a:solidFill>
              </a:rPr>
              <a:t>odometer</a:t>
            </a:r>
          </a:p>
          <a:p>
            <a:pPr lvl="2">
              <a:lnSpc>
                <a:spcPct val="90000"/>
              </a:lnSpc>
              <a:spcBef>
                <a:spcPts val="600"/>
              </a:spcBef>
            </a:pPr>
            <a:r>
              <a:rPr lang="en-CA" sz="1400" dirty="0">
                <a:solidFill>
                  <a:schemeClr val="bg1"/>
                </a:solidFill>
              </a:rPr>
              <a:t>transmission</a:t>
            </a:r>
          </a:p>
          <a:p>
            <a:pPr lvl="2">
              <a:lnSpc>
                <a:spcPct val="90000"/>
              </a:lnSpc>
              <a:spcBef>
                <a:spcPts val="600"/>
              </a:spcBef>
            </a:pPr>
            <a:r>
              <a:rPr lang="en-CA" sz="1400" dirty="0">
                <a:solidFill>
                  <a:schemeClr val="bg1"/>
                </a:solidFill>
              </a:rPr>
              <a:t>size</a:t>
            </a:r>
          </a:p>
          <a:p>
            <a:pPr lvl="2">
              <a:lnSpc>
                <a:spcPct val="90000"/>
              </a:lnSpc>
              <a:spcBef>
                <a:spcPts val="600"/>
              </a:spcBef>
            </a:pPr>
            <a:r>
              <a:rPr lang="en-CA" sz="1400" dirty="0">
                <a:solidFill>
                  <a:schemeClr val="bg1"/>
                </a:solidFill>
              </a:rPr>
              <a:t>type</a:t>
            </a:r>
          </a:p>
          <a:p>
            <a:pPr lvl="2">
              <a:lnSpc>
                <a:spcPct val="90000"/>
              </a:lnSpc>
              <a:spcBef>
                <a:spcPts val="600"/>
              </a:spcBef>
            </a:pPr>
            <a:r>
              <a:rPr lang="en-CA" sz="1400" dirty="0" err="1">
                <a:solidFill>
                  <a:schemeClr val="bg1"/>
                </a:solidFill>
              </a:rPr>
              <a:t>paint_color</a:t>
            </a:r>
            <a:endParaRPr lang="en-CA" sz="1400" dirty="0">
              <a:solidFill>
                <a:schemeClr val="bg1"/>
              </a:solidFill>
            </a:endParaRPr>
          </a:p>
          <a:p>
            <a:pPr marL="0" lvl="1" indent="0">
              <a:lnSpc>
                <a:spcPct val="90000"/>
              </a:lnSpc>
              <a:spcBef>
                <a:spcPts val="600"/>
              </a:spcBef>
              <a:buNone/>
            </a:pPr>
            <a:endParaRPr lang="en-CA" sz="1300" dirty="0">
              <a:solidFill>
                <a:schemeClr val="bg1"/>
              </a:solidFill>
            </a:endParaRPr>
          </a:p>
          <a:p>
            <a:pPr marL="0" lvl="1" indent="0">
              <a:lnSpc>
                <a:spcPct val="90000"/>
              </a:lnSpc>
              <a:spcBef>
                <a:spcPts val="600"/>
              </a:spcBef>
              <a:buNone/>
            </a:pPr>
            <a:r>
              <a:rPr lang="en-CA" sz="1500" dirty="0">
                <a:solidFill>
                  <a:schemeClr val="bg1"/>
                </a:solidFill>
              </a:rPr>
              <a:t>Data Source: </a:t>
            </a:r>
            <a:r>
              <a:rPr lang="en-CA" sz="1500" dirty="0">
                <a:solidFill>
                  <a:schemeClr val="bg1"/>
                </a:solidFill>
                <a:hlinkClick r:id="rId2"/>
              </a:rPr>
              <a:t>https://www.kaggle.com/austinreese/craigslist-carstrucks-data</a:t>
            </a:r>
            <a:r>
              <a:rPr lang="en-CA" sz="1500" dirty="0">
                <a:solidFill>
                  <a:schemeClr val="bg1"/>
                </a:solidFill>
              </a:rPr>
              <a:t> </a:t>
            </a:r>
          </a:p>
        </p:txBody>
      </p:sp>
      <p:graphicFrame>
        <p:nvGraphicFramePr>
          <p:cNvPr id="5" name="Table 4">
            <a:extLst>
              <a:ext uri="{FF2B5EF4-FFF2-40B4-BE49-F238E27FC236}">
                <a16:creationId xmlns:a16="http://schemas.microsoft.com/office/drawing/2014/main" id="{1CC94B3D-D831-40FC-B485-7EADCAD076E2}"/>
              </a:ext>
            </a:extLst>
          </p:cNvPr>
          <p:cNvGraphicFramePr/>
          <p:nvPr>
            <p:extLst>
              <p:ext uri="{D42A27DB-BD31-4B8C-83A1-F6EECF244321}">
                <p14:modId xmlns:p14="http://schemas.microsoft.com/office/powerpoint/2010/main" val="1235776298"/>
              </p:ext>
            </p:extLst>
          </p:nvPr>
        </p:nvGraphicFramePr>
        <p:xfrm>
          <a:off x="5416437" y="290556"/>
          <a:ext cx="6013421" cy="6264075"/>
        </p:xfrm>
        <a:graphic>
          <a:graphicData uri="http://schemas.openxmlformats.org/drawingml/2006/table">
            <a:tbl>
              <a:tblPr firstRow="1" firstCol="1" bandRow="1">
                <a:tableStyleId>{5C22544A-7EE6-4342-B048-85BDC9FD1C3A}</a:tableStyleId>
              </a:tblPr>
              <a:tblGrid>
                <a:gridCol w="2258183">
                  <a:extLst>
                    <a:ext uri="{9D8B030D-6E8A-4147-A177-3AD203B41FA5}">
                      <a16:colId xmlns:a16="http://schemas.microsoft.com/office/drawing/2014/main" val="3720335613"/>
                    </a:ext>
                  </a:extLst>
                </a:gridCol>
                <a:gridCol w="3755238">
                  <a:extLst>
                    <a:ext uri="{9D8B030D-6E8A-4147-A177-3AD203B41FA5}">
                      <a16:colId xmlns:a16="http://schemas.microsoft.com/office/drawing/2014/main" val="25617072"/>
                    </a:ext>
                  </a:extLst>
                </a:gridCol>
              </a:tblGrid>
              <a:tr h="250563">
                <a:tc>
                  <a:txBody>
                    <a:bodyPr/>
                    <a:lstStyle/>
                    <a:p>
                      <a:pPr algn="ctr" fontAlgn="b">
                        <a:lnSpc>
                          <a:spcPct val="107000"/>
                        </a:lnSpc>
                        <a:spcBef>
                          <a:spcPts val="0"/>
                        </a:spcBef>
                        <a:spcAft>
                          <a:spcPts val="0"/>
                        </a:spcAft>
                      </a:pPr>
                      <a:r>
                        <a:rPr lang="en-CA" sz="1200" u="none" strike="noStrike" dirty="0">
                          <a:effectLst/>
                          <a:latin typeface="+mn-lt"/>
                        </a:rPr>
                        <a:t>COLUMN</a:t>
                      </a:r>
                      <a:endParaRPr lang="en-CA" sz="1200" b="0" i="0" u="none" strike="noStrike" dirty="0">
                        <a:effectLst/>
                        <a:latin typeface="+mn-lt"/>
                      </a:endParaRPr>
                    </a:p>
                  </a:txBody>
                  <a:tcPr marL="42624" marR="42624" marT="5920" marB="0" anchor="ctr"/>
                </a:tc>
                <a:tc>
                  <a:txBody>
                    <a:bodyPr/>
                    <a:lstStyle/>
                    <a:p>
                      <a:pPr algn="ctr" fontAlgn="t">
                        <a:lnSpc>
                          <a:spcPct val="107000"/>
                        </a:lnSpc>
                        <a:spcBef>
                          <a:spcPts val="0"/>
                        </a:spcBef>
                        <a:spcAft>
                          <a:spcPts val="0"/>
                        </a:spcAft>
                      </a:pPr>
                      <a:r>
                        <a:rPr lang="en-CA" sz="1200" b="1" u="none" strike="noStrike" kern="1200">
                          <a:solidFill>
                            <a:schemeClr val="lt1"/>
                          </a:solidFill>
                          <a:effectLst/>
                          <a:latin typeface="+mn-lt"/>
                          <a:ea typeface="+mn-ea"/>
                          <a:cs typeface="+mn-cs"/>
                        </a:rPr>
                        <a:t>DESCRIPTI</a:t>
                      </a:r>
                      <a:r>
                        <a:rPr lang="en-CA" sz="1200" u="none" strike="noStrike">
                          <a:effectLst/>
                          <a:latin typeface="+mn-lt"/>
                        </a:rPr>
                        <a:t>ON</a:t>
                      </a:r>
                      <a:endParaRPr lang="en-CA" sz="1200" b="0" i="0" u="none" strike="noStrike">
                        <a:effectLst/>
                        <a:latin typeface="+mn-lt"/>
                      </a:endParaRPr>
                    </a:p>
                  </a:txBody>
                  <a:tcPr marL="42624" marR="42624" marT="5920" marB="0" anchor="ctr"/>
                </a:tc>
                <a:extLst>
                  <a:ext uri="{0D108BD9-81ED-4DB2-BD59-A6C34878D82A}">
                    <a16:rowId xmlns:a16="http://schemas.microsoft.com/office/drawing/2014/main" val="1760982418"/>
                  </a:ext>
                </a:extLst>
              </a:tr>
              <a:tr h="250563">
                <a:tc>
                  <a:txBody>
                    <a:bodyPr/>
                    <a:lstStyle/>
                    <a:p>
                      <a:pPr algn="ctr" fontAlgn="b">
                        <a:lnSpc>
                          <a:spcPct val="107000"/>
                        </a:lnSpc>
                        <a:spcBef>
                          <a:spcPts val="0"/>
                        </a:spcBef>
                        <a:spcAft>
                          <a:spcPts val="0"/>
                        </a:spcAft>
                      </a:pPr>
                      <a:r>
                        <a:rPr lang="en-CA" sz="1200" u="none" strike="noStrike" dirty="0" err="1">
                          <a:effectLst/>
                          <a:latin typeface="+mn-lt"/>
                        </a:rPr>
                        <a:t>url</a:t>
                      </a:r>
                      <a:endParaRPr lang="en-CA" sz="1200" b="0" i="0" u="none" strike="noStrike" dirty="0">
                        <a:effectLst/>
                        <a:latin typeface="+mn-lt"/>
                      </a:endParaRPr>
                    </a:p>
                  </a:txBody>
                  <a:tcPr marL="42624" marR="42624" marT="5920" marB="0" anchor="ctr"/>
                </a:tc>
                <a:tc>
                  <a:txBody>
                    <a:bodyPr/>
                    <a:lstStyle/>
                    <a:p>
                      <a:pPr algn="ctr" fontAlgn="t">
                        <a:lnSpc>
                          <a:spcPct val="107000"/>
                        </a:lnSpc>
                        <a:spcBef>
                          <a:spcPts val="0"/>
                        </a:spcBef>
                        <a:spcAft>
                          <a:spcPts val="0"/>
                        </a:spcAft>
                      </a:pPr>
                      <a:r>
                        <a:rPr lang="en-CA" sz="1200" b="0" i="0" u="none" strike="noStrike">
                          <a:effectLst/>
                          <a:latin typeface="+mn-lt"/>
                        </a:rPr>
                        <a:t>Listing URL</a:t>
                      </a:r>
                    </a:p>
                  </a:txBody>
                  <a:tcPr marL="42624" marR="42624" marT="5920" marB="0" anchor="ctr"/>
                </a:tc>
                <a:extLst>
                  <a:ext uri="{0D108BD9-81ED-4DB2-BD59-A6C34878D82A}">
                    <a16:rowId xmlns:a16="http://schemas.microsoft.com/office/drawing/2014/main" val="3382968184"/>
                  </a:ext>
                </a:extLst>
              </a:tr>
              <a:tr h="250563">
                <a:tc>
                  <a:txBody>
                    <a:bodyPr/>
                    <a:lstStyle/>
                    <a:p>
                      <a:pPr algn="ctr" fontAlgn="b">
                        <a:lnSpc>
                          <a:spcPct val="107000"/>
                        </a:lnSpc>
                        <a:spcBef>
                          <a:spcPts val="0"/>
                        </a:spcBef>
                        <a:spcAft>
                          <a:spcPts val="0"/>
                        </a:spcAft>
                      </a:pPr>
                      <a:r>
                        <a:rPr lang="en-CA" sz="1200" u="none" strike="noStrike" dirty="0">
                          <a:effectLst/>
                          <a:latin typeface="+mn-lt"/>
                        </a:rPr>
                        <a:t>region</a:t>
                      </a:r>
                      <a:endParaRPr lang="en-CA" sz="1200" b="0" i="0" u="none" strike="noStrike" dirty="0">
                        <a:effectLst/>
                        <a:latin typeface="+mn-lt"/>
                      </a:endParaRPr>
                    </a:p>
                  </a:txBody>
                  <a:tcPr marL="42624" marR="42624" marT="5920" marB="0" anchor="ctr"/>
                </a:tc>
                <a:tc>
                  <a:txBody>
                    <a:bodyPr/>
                    <a:lstStyle/>
                    <a:p>
                      <a:pPr algn="ctr" fontAlgn="t">
                        <a:lnSpc>
                          <a:spcPct val="107000"/>
                        </a:lnSpc>
                        <a:spcBef>
                          <a:spcPts val="0"/>
                        </a:spcBef>
                        <a:spcAft>
                          <a:spcPts val="0"/>
                        </a:spcAft>
                      </a:pPr>
                      <a:r>
                        <a:rPr lang="en-CA" sz="1200" b="0" i="0" u="none" strike="noStrike">
                          <a:effectLst/>
                          <a:latin typeface="+mn-lt"/>
                        </a:rPr>
                        <a:t>Craigslist region</a:t>
                      </a:r>
                    </a:p>
                  </a:txBody>
                  <a:tcPr marL="42624" marR="42624" marT="5920" marB="0" anchor="ctr"/>
                </a:tc>
                <a:extLst>
                  <a:ext uri="{0D108BD9-81ED-4DB2-BD59-A6C34878D82A}">
                    <a16:rowId xmlns:a16="http://schemas.microsoft.com/office/drawing/2014/main" val="3765964511"/>
                  </a:ext>
                </a:extLst>
              </a:tr>
              <a:tr h="250563">
                <a:tc>
                  <a:txBody>
                    <a:bodyPr/>
                    <a:lstStyle/>
                    <a:p>
                      <a:pPr algn="ctr" fontAlgn="b">
                        <a:lnSpc>
                          <a:spcPct val="107000"/>
                        </a:lnSpc>
                        <a:spcBef>
                          <a:spcPts val="0"/>
                        </a:spcBef>
                        <a:spcAft>
                          <a:spcPts val="0"/>
                        </a:spcAft>
                      </a:pPr>
                      <a:r>
                        <a:rPr lang="en-CA" sz="1200" u="none" strike="noStrike" dirty="0" err="1">
                          <a:effectLst/>
                          <a:latin typeface="+mn-lt"/>
                        </a:rPr>
                        <a:t>region_url</a:t>
                      </a:r>
                      <a:endParaRPr lang="en-CA" sz="1200" b="0" i="0" u="none" strike="noStrike" dirty="0">
                        <a:effectLst/>
                        <a:latin typeface="+mn-lt"/>
                      </a:endParaRPr>
                    </a:p>
                  </a:txBody>
                  <a:tcPr marL="42624" marR="42624" marT="5920" marB="0" anchor="ctr"/>
                </a:tc>
                <a:tc>
                  <a:txBody>
                    <a:bodyPr/>
                    <a:lstStyle/>
                    <a:p>
                      <a:pPr algn="ctr" fontAlgn="t">
                        <a:lnSpc>
                          <a:spcPct val="107000"/>
                        </a:lnSpc>
                        <a:spcBef>
                          <a:spcPts val="0"/>
                        </a:spcBef>
                        <a:spcAft>
                          <a:spcPts val="0"/>
                        </a:spcAft>
                      </a:pPr>
                      <a:r>
                        <a:rPr lang="en-CA" sz="1200" b="0" i="0" u="none" strike="noStrike">
                          <a:effectLst/>
                          <a:latin typeface="+mn-lt"/>
                        </a:rPr>
                        <a:t>Region URL</a:t>
                      </a:r>
                    </a:p>
                  </a:txBody>
                  <a:tcPr marL="42624" marR="42624" marT="5920" marB="0" anchor="ctr"/>
                </a:tc>
                <a:extLst>
                  <a:ext uri="{0D108BD9-81ED-4DB2-BD59-A6C34878D82A}">
                    <a16:rowId xmlns:a16="http://schemas.microsoft.com/office/drawing/2014/main" val="2710771837"/>
                  </a:ext>
                </a:extLst>
              </a:tr>
              <a:tr h="250563">
                <a:tc>
                  <a:txBody>
                    <a:bodyPr/>
                    <a:lstStyle/>
                    <a:p>
                      <a:pPr algn="ctr" fontAlgn="b">
                        <a:lnSpc>
                          <a:spcPct val="107000"/>
                        </a:lnSpc>
                        <a:spcBef>
                          <a:spcPts val="0"/>
                        </a:spcBef>
                        <a:spcAft>
                          <a:spcPts val="0"/>
                        </a:spcAft>
                      </a:pPr>
                      <a:r>
                        <a:rPr lang="en-CA" sz="1200" u="none" strike="noStrike" dirty="0">
                          <a:effectLst/>
                          <a:latin typeface="+mn-lt"/>
                        </a:rPr>
                        <a:t>price</a:t>
                      </a:r>
                      <a:endParaRPr lang="en-CA" sz="1200" b="0" i="0" u="none" strike="noStrike" dirty="0">
                        <a:effectLst/>
                        <a:latin typeface="+mn-lt"/>
                      </a:endParaRPr>
                    </a:p>
                  </a:txBody>
                  <a:tcPr marL="42624" marR="42624" marT="5920" marB="0" anchor="ctr"/>
                </a:tc>
                <a:tc>
                  <a:txBody>
                    <a:bodyPr/>
                    <a:lstStyle/>
                    <a:p>
                      <a:pPr algn="ctr" fontAlgn="t">
                        <a:lnSpc>
                          <a:spcPct val="107000"/>
                        </a:lnSpc>
                        <a:spcBef>
                          <a:spcPts val="0"/>
                        </a:spcBef>
                        <a:spcAft>
                          <a:spcPts val="0"/>
                        </a:spcAft>
                      </a:pPr>
                      <a:r>
                        <a:rPr lang="en-US" sz="1200" b="0" i="0" u="none" strike="noStrike">
                          <a:effectLst/>
                          <a:latin typeface="+mn-lt"/>
                        </a:rPr>
                        <a:t>Entry price</a:t>
                      </a:r>
                    </a:p>
                  </a:txBody>
                  <a:tcPr marL="42624" marR="42624" marT="5920" marB="0" anchor="ctr"/>
                </a:tc>
                <a:extLst>
                  <a:ext uri="{0D108BD9-81ED-4DB2-BD59-A6C34878D82A}">
                    <a16:rowId xmlns:a16="http://schemas.microsoft.com/office/drawing/2014/main" val="17804656"/>
                  </a:ext>
                </a:extLst>
              </a:tr>
              <a:tr h="250563">
                <a:tc>
                  <a:txBody>
                    <a:bodyPr/>
                    <a:lstStyle/>
                    <a:p>
                      <a:pPr algn="ctr" fontAlgn="b">
                        <a:lnSpc>
                          <a:spcPct val="107000"/>
                        </a:lnSpc>
                        <a:spcBef>
                          <a:spcPts val="0"/>
                        </a:spcBef>
                        <a:spcAft>
                          <a:spcPts val="0"/>
                        </a:spcAft>
                      </a:pPr>
                      <a:r>
                        <a:rPr lang="en-CA" sz="1200" u="none" strike="noStrike" dirty="0">
                          <a:effectLst/>
                          <a:latin typeface="+mn-lt"/>
                        </a:rPr>
                        <a:t>year</a:t>
                      </a:r>
                      <a:endParaRPr lang="en-CA" sz="1200" b="0" i="0" u="none" strike="noStrike" dirty="0">
                        <a:effectLst/>
                        <a:latin typeface="+mn-lt"/>
                      </a:endParaRPr>
                    </a:p>
                  </a:txBody>
                  <a:tcPr marL="42624" marR="42624" marT="5920" marB="0" anchor="ctr"/>
                </a:tc>
                <a:tc>
                  <a:txBody>
                    <a:bodyPr/>
                    <a:lstStyle/>
                    <a:p>
                      <a:pPr algn="ctr" fontAlgn="t">
                        <a:lnSpc>
                          <a:spcPct val="107000"/>
                        </a:lnSpc>
                        <a:spcBef>
                          <a:spcPts val="0"/>
                        </a:spcBef>
                        <a:spcAft>
                          <a:spcPts val="0"/>
                        </a:spcAft>
                      </a:pPr>
                      <a:r>
                        <a:rPr lang="en-US" sz="1200" b="0" i="0" u="none" strike="noStrike" dirty="0">
                          <a:effectLst/>
                          <a:latin typeface="+mn-lt"/>
                        </a:rPr>
                        <a:t>Entry year</a:t>
                      </a:r>
                    </a:p>
                  </a:txBody>
                  <a:tcPr marL="42624" marR="42624" marT="5920" marB="0" anchor="ctr"/>
                </a:tc>
                <a:extLst>
                  <a:ext uri="{0D108BD9-81ED-4DB2-BD59-A6C34878D82A}">
                    <a16:rowId xmlns:a16="http://schemas.microsoft.com/office/drawing/2014/main" val="3310696582"/>
                  </a:ext>
                </a:extLst>
              </a:tr>
              <a:tr h="250563">
                <a:tc>
                  <a:txBody>
                    <a:bodyPr/>
                    <a:lstStyle/>
                    <a:p>
                      <a:pPr algn="ctr" fontAlgn="b">
                        <a:lnSpc>
                          <a:spcPct val="107000"/>
                        </a:lnSpc>
                        <a:spcBef>
                          <a:spcPts val="0"/>
                        </a:spcBef>
                        <a:spcAft>
                          <a:spcPts val="0"/>
                        </a:spcAft>
                      </a:pPr>
                      <a:r>
                        <a:rPr lang="en-CA" sz="1200" u="none" strike="noStrike">
                          <a:effectLst/>
                          <a:latin typeface="+mn-lt"/>
                        </a:rPr>
                        <a:t>manufacturer</a:t>
                      </a:r>
                      <a:endParaRPr lang="en-CA" sz="1200" b="0" i="0" u="none" strike="noStrike">
                        <a:effectLst/>
                        <a:latin typeface="+mn-lt"/>
                      </a:endParaRPr>
                    </a:p>
                  </a:txBody>
                  <a:tcPr marL="42624" marR="42624" marT="5920" marB="0" anchor="ctr"/>
                </a:tc>
                <a:tc>
                  <a:txBody>
                    <a:bodyPr/>
                    <a:lstStyle/>
                    <a:p>
                      <a:pPr algn="ctr" fontAlgn="t">
                        <a:lnSpc>
                          <a:spcPct val="107000"/>
                        </a:lnSpc>
                        <a:spcBef>
                          <a:spcPts val="0"/>
                        </a:spcBef>
                        <a:spcAft>
                          <a:spcPts val="0"/>
                        </a:spcAft>
                      </a:pPr>
                      <a:r>
                        <a:rPr lang="en-US" sz="1200" b="0" i="0" u="none" strike="noStrike" dirty="0">
                          <a:effectLst/>
                          <a:latin typeface="+mn-lt"/>
                        </a:rPr>
                        <a:t>Manufacturer of vehicle</a:t>
                      </a:r>
                    </a:p>
                  </a:txBody>
                  <a:tcPr marL="42624" marR="42624" marT="5920" marB="0" anchor="ctr"/>
                </a:tc>
                <a:extLst>
                  <a:ext uri="{0D108BD9-81ED-4DB2-BD59-A6C34878D82A}">
                    <a16:rowId xmlns:a16="http://schemas.microsoft.com/office/drawing/2014/main" val="2716362215"/>
                  </a:ext>
                </a:extLst>
              </a:tr>
              <a:tr h="250563">
                <a:tc>
                  <a:txBody>
                    <a:bodyPr/>
                    <a:lstStyle/>
                    <a:p>
                      <a:pPr algn="ctr" fontAlgn="b">
                        <a:lnSpc>
                          <a:spcPct val="107000"/>
                        </a:lnSpc>
                        <a:spcBef>
                          <a:spcPts val="0"/>
                        </a:spcBef>
                        <a:spcAft>
                          <a:spcPts val="0"/>
                        </a:spcAft>
                      </a:pPr>
                      <a:r>
                        <a:rPr lang="en-CA" sz="1200" u="none" strike="noStrike">
                          <a:effectLst/>
                          <a:latin typeface="+mn-lt"/>
                        </a:rPr>
                        <a:t>model</a:t>
                      </a:r>
                      <a:endParaRPr lang="en-CA" sz="1200" b="0" i="0" u="none" strike="noStrike">
                        <a:effectLst/>
                        <a:latin typeface="+mn-lt"/>
                      </a:endParaRPr>
                    </a:p>
                  </a:txBody>
                  <a:tcPr marL="42624" marR="42624" marT="5920" marB="0" anchor="ctr"/>
                </a:tc>
                <a:tc>
                  <a:txBody>
                    <a:bodyPr/>
                    <a:lstStyle/>
                    <a:p>
                      <a:pPr algn="ctr" fontAlgn="t">
                        <a:lnSpc>
                          <a:spcPct val="107000"/>
                        </a:lnSpc>
                        <a:spcBef>
                          <a:spcPts val="0"/>
                        </a:spcBef>
                        <a:spcAft>
                          <a:spcPts val="0"/>
                        </a:spcAft>
                      </a:pPr>
                      <a:r>
                        <a:rPr lang="en-US" sz="1200" b="0" i="0" u="none" strike="noStrike" dirty="0">
                          <a:effectLst/>
                          <a:latin typeface="+mn-lt"/>
                        </a:rPr>
                        <a:t>Model of vehicle</a:t>
                      </a:r>
                    </a:p>
                  </a:txBody>
                  <a:tcPr marL="42624" marR="42624" marT="5920" marB="0" anchor="ctr"/>
                </a:tc>
                <a:extLst>
                  <a:ext uri="{0D108BD9-81ED-4DB2-BD59-A6C34878D82A}">
                    <a16:rowId xmlns:a16="http://schemas.microsoft.com/office/drawing/2014/main" val="32373889"/>
                  </a:ext>
                </a:extLst>
              </a:tr>
              <a:tr h="250563">
                <a:tc>
                  <a:txBody>
                    <a:bodyPr/>
                    <a:lstStyle/>
                    <a:p>
                      <a:pPr algn="ctr" fontAlgn="b">
                        <a:lnSpc>
                          <a:spcPct val="107000"/>
                        </a:lnSpc>
                        <a:spcBef>
                          <a:spcPts val="0"/>
                        </a:spcBef>
                        <a:spcAft>
                          <a:spcPts val="0"/>
                        </a:spcAft>
                      </a:pPr>
                      <a:r>
                        <a:rPr lang="en-CA" sz="1200" u="none" strike="noStrike">
                          <a:effectLst/>
                          <a:latin typeface="+mn-lt"/>
                        </a:rPr>
                        <a:t>condition</a:t>
                      </a:r>
                      <a:endParaRPr lang="en-CA" sz="1200" b="0" i="0" u="none" strike="noStrike">
                        <a:effectLst/>
                        <a:latin typeface="+mn-lt"/>
                      </a:endParaRPr>
                    </a:p>
                  </a:txBody>
                  <a:tcPr marL="42624" marR="42624" marT="5920" marB="0" anchor="ctr"/>
                </a:tc>
                <a:tc>
                  <a:txBody>
                    <a:bodyPr/>
                    <a:lstStyle/>
                    <a:p>
                      <a:pPr algn="ctr" fontAlgn="t">
                        <a:lnSpc>
                          <a:spcPct val="107000"/>
                        </a:lnSpc>
                        <a:spcBef>
                          <a:spcPts val="0"/>
                        </a:spcBef>
                        <a:spcAft>
                          <a:spcPts val="0"/>
                        </a:spcAft>
                      </a:pPr>
                      <a:r>
                        <a:rPr lang="en-US" sz="1200" b="0" i="0" u="none" strike="noStrike" dirty="0">
                          <a:effectLst/>
                          <a:latin typeface="+mn-lt"/>
                        </a:rPr>
                        <a:t>Condition of vehicle</a:t>
                      </a:r>
                    </a:p>
                  </a:txBody>
                  <a:tcPr marL="42624" marR="42624" marT="5920" marB="0" anchor="ctr"/>
                </a:tc>
                <a:extLst>
                  <a:ext uri="{0D108BD9-81ED-4DB2-BD59-A6C34878D82A}">
                    <a16:rowId xmlns:a16="http://schemas.microsoft.com/office/drawing/2014/main" val="3377649903"/>
                  </a:ext>
                </a:extLst>
              </a:tr>
              <a:tr h="250563">
                <a:tc>
                  <a:txBody>
                    <a:bodyPr/>
                    <a:lstStyle/>
                    <a:p>
                      <a:pPr algn="ctr" fontAlgn="b">
                        <a:lnSpc>
                          <a:spcPct val="107000"/>
                        </a:lnSpc>
                        <a:spcBef>
                          <a:spcPts val="0"/>
                        </a:spcBef>
                        <a:spcAft>
                          <a:spcPts val="0"/>
                        </a:spcAft>
                      </a:pPr>
                      <a:r>
                        <a:rPr lang="en-CA" sz="1200" u="none" strike="noStrike">
                          <a:effectLst/>
                          <a:latin typeface="+mn-lt"/>
                        </a:rPr>
                        <a:t>cylinders</a:t>
                      </a:r>
                      <a:endParaRPr lang="en-CA" sz="1200" b="0" i="0" u="none" strike="noStrike">
                        <a:effectLst/>
                        <a:latin typeface="+mn-lt"/>
                      </a:endParaRPr>
                    </a:p>
                  </a:txBody>
                  <a:tcPr marL="42624" marR="42624" marT="5920" marB="0" anchor="ctr"/>
                </a:tc>
                <a:tc>
                  <a:txBody>
                    <a:bodyPr/>
                    <a:lstStyle/>
                    <a:p>
                      <a:pPr algn="ctr" fontAlgn="t">
                        <a:lnSpc>
                          <a:spcPct val="107000"/>
                        </a:lnSpc>
                        <a:spcBef>
                          <a:spcPts val="0"/>
                        </a:spcBef>
                        <a:spcAft>
                          <a:spcPts val="0"/>
                        </a:spcAft>
                      </a:pPr>
                      <a:r>
                        <a:rPr lang="en-US" sz="1200" b="0" i="0" u="none" strike="noStrike" dirty="0">
                          <a:effectLst/>
                          <a:latin typeface="+mn-lt"/>
                        </a:rPr>
                        <a:t>Number of cylinders</a:t>
                      </a:r>
                    </a:p>
                  </a:txBody>
                  <a:tcPr marL="42624" marR="42624" marT="5920" marB="0" anchor="ctr"/>
                </a:tc>
                <a:extLst>
                  <a:ext uri="{0D108BD9-81ED-4DB2-BD59-A6C34878D82A}">
                    <a16:rowId xmlns:a16="http://schemas.microsoft.com/office/drawing/2014/main" val="2757671617"/>
                  </a:ext>
                </a:extLst>
              </a:tr>
              <a:tr h="250563">
                <a:tc>
                  <a:txBody>
                    <a:bodyPr/>
                    <a:lstStyle/>
                    <a:p>
                      <a:pPr algn="ctr" fontAlgn="b">
                        <a:lnSpc>
                          <a:spcPct val="107000"/>
                        </a:lnSpc>
                        <a:spcBef>
                          <a:spcPts val="0"/>
                        </a:spcBef>
                        <a:spcAft>
                          <a:spcPts val="0"/>
                        </a:spcAft>
                      </a:pPr>
                      <a:r>
                        <a:rPr lang="en-CA" sz="1200" u="none" strike="noStrike">
                          <a:effectLst/>
                          <a:latin typeface="+mn-lt"/>
                        </a:rPr>
                        <a:t>fuel</a:t>
                      </a:r>
                      <a:endParaRPr lang="en-CA" sz="1200" b="0" i="0" u="none" strike="noStrike">
                        <a:effectLst/>
                        <a:latin typeface="+mn-lt"/>
                      </a:endParaRPr>
                    </a:p>
                  </a:txBody>
                  <a:tcPr marL="42624" marR="42624" marT="5920" marB="0" anchor="ctr"/>
                </a:tc>
                <a:tc>
                  <a:txBody>
                    <a:bodyPr/>
                    <a:lstStyle/>
                    <a:p>
                      <a:pPr algn="ctr" fontAlgn="t">
                        <a:lnSpc>
                          <a:spcPct val="107000"/>
                        </a:lnSpc>
                        <a:spcBef>
                          <a:spcPts val="0"/>
                        </a:spcBef>
                        <a:spcAft>
                          <a:spcPts val="0"/>
                        </a:spcAft>
                      </a:pPr>
                      <a:r>
                        <a:rPr lang="en-US" sz="1200" b="0" i="0" u="none" strike="noStrike" dirty="0">
                          <a:effectLst/>
                          <a:latin typeface="+mn-lt"/>
                        </a:rPr>
                        <a:t>Fuel type</a:t>
                      </a:r>
                    </a:p>
                  </a:txBody>
                  <a:tcPr marL="42624" marR="42624" marT="5920" marB="0" anchor="ctr"/>
                </a:tc>
                <a:extLst>
                  <a:ext uri="{0D108BD9-81ED-4DB2-BD59-A6C34878D82A}">
                    <a16:rowId xmlns:a16="http://schemas.microsoft.com/office/drawing/2014/main" val="3366887647"/>
                  </a:ext>
                </a:extLst>
              </a:tr>
              <a:tr h="250563">
                <a:tc>
                  <a:txBody>
                    <a:bodyPr/>
                    <a:lstStyle/>
                    <a:p>
                      <a:pPr algn="ctr" fontAlgn="b">
                        <a:lnSpc>
                          <a:spcPct val="107000"/>
                        </a:lnSpc>
                        <a:spcBef>
                          <a:spcPts val="0"/>
                        </a:spcBef>
                        <a:spcAft>
                          <a:spcPts val="0"/>
                        </a:spcAft>
                      </a:pPr>
                      <a:r>
                        <a:rPr lang="en-CA" sz="1200" u="none" strike="noStrike">
                          <a:effectLst/>
                          <a:latin typeface="+mn-lt"/>
                        </a:rPr>
                        <a:t>odometer</a:t>
                      </a:r>
                      <a:endParaRPr lang="en-CA" sz="1200" b="0" i="0" u="none" strike="noStrike">
                        <a:effectLst/>
                        <a:latin typeface="+mn-lt"/>
                      </a:endParaRPr>
                    </a:p>
                  </a:txBody>
                  <a:tcPr marL="42624" marR="42624" marT="5920" marB="0" anchor="ctr"/>
                </a:tc>
                <a:tc>
                  <a:txBody>
                    <a:bodyPr/>
                    <a:lstStyle/>
                    <a:p>
                      <a:pPr algn="ctr" fontAlgn="t">
                        <a:lnSpc>
                          <a:spcPct val="107000"/>
                        </a:lnSpc>
                        <a:spcBef>
                          <a:spcPts val="0"/>
                        </a:spcBef>
                        <a:spcAft>
                          <a:spcPts val="0"/>
                        </a:spcAft>
                      </a:pPr>
                      <a:r>
                        <a:rPr lang="en-US" sz="1200" b="0" i="0" u="none" strike="noStrike" dirty="0">
                          <a:effectLst/>
                          <a:latin typeface="+mn-lt"/>
                        </a:rPr>
                        <a:t>Miles traveled by vehicle</a:t>
                      </a:r>
                    </a:p>
                  </a:txBody>
                  <a:tcPr marL="42624" marR="42624" marT="5920" marB="0" anchor="ctr"/>
                </a:tc>
                <a:extLst>
                  <a:ext uri="{0D108BD9-81ED-4DB2-BD59-A6C34878D82A}">
                    <a16:rowId xmlns:a16="http://schemas.microsoft.com/office/drawing/2014/main" val="3677644051"/>
                  </a:ext>
                </a:extLst>
              </a:tr>
              <a:tr h="250563">
                <a:tc>
                  <a:txBody>
                    <a:bodyPr/>
                    <a:lstStyle/>
                    <a:p>
                      <a:pPr algn="ctr" fontAlgn="b">
                        <a:lnSpc>
                          <a:spcPct val="107000"/>
                        </a:lnSpc>
                        <a:spcBef>
                          <a:spcPts val="0"/>
                        </a:spcBef>
                        <a:spcAft>
                          <a:spcPts val="0"/>
                        </a:spcAft>
                      </a:pPr>
                      <a:r>
                        <a:rPr lang="en-CA" sz="1200" u="none" strike="noStrike">
                          <a:effectLst/>
                          <a:latin typeface="+mn-lt"/>
                        </a:rPr>
                        <a:t>title_status</a:t>
                      </a:r>
                      <a:endParaRPr lang="en-CA" sz="1200" b="0" i="0" u="none" strike="noStrike">
                        <a:effectLst/>
                        <a:latin typeface="+mn-lt"/>
                      </a:endParaRPr>
                    </a:p>
                  </a:txBody>
                  <a:tcPr marL="42624" marR="42624" marT="5920" marB="0" anchor="ctr"/>
                </a:tc>
                <a:tc>
                  <a:txBody>
                    <a:bodyPr/>
                    <a:lstStyle/>
                    <a:p>
                      <a:pPr algn="ctr" fontAlgn="t">
                        <a:lnSpc>
                          <a:spcPct val="107000"/>
                        </a:lnSpc>
                        <a:spcBef>
                          <a:spcPts val="0"/>
                        </a:spcBef>
                        <a:spcAft>
                          <a:spcPts val="0"/>
                        </a:spcAft>
                      </a:pPr>
                      <a:r>
                        <a:rPr lang="en-US" sz="1200" b="0" i="0" u="none" strike="noStrike" dirty="0">
                          <a:effectLst/>
                          <a:latin typeface="+mn-lt"/>
                        </a:rPr>
                        <a:t>Title status of vehicle</a:t>
                      </a:r>
                    </a:p>
                  </a:txBody>
                  <a:tcPr marL="42624" marR="42624" marT="5920" marB="0" anchor="ctr"/>
                </a:tc>
                <a:extLst>
                  <a:ext uri="{0D108BD9-81ED-4DB2-BD59-A6C34878D82A}">
                    <a16:rowId xmlns:a16="http://schemas.microsoft.com/office/drawing/2014/main" val="3615218732"/>
                  </a:ext>
                </a:extLst>
              </a:tr>
              <a:tr h="250563">
                <a:tc>
                  <a:txBody>
                    <a:bodyPr/>
                    <a:lstStyle/>
                    <a:p>
                      <a:pPr algn="ctr" fontAlgn="b">
                        <a:lnSpc>
                          <a:spcPct val="107000"/>
                        </a:lnSpc>
                        <a:spcBef>
                          <a:spcPts val="0"/>
                        </a:spcBef>
                        <a:spcAft>
                          <a:spcPts val="0"/>
                        </a:spcAft>
                      </a:pPr>
                      <a:r>
                        <a:rPr lang="en-CA" sz="1200" u="none" strike="noStrike">
                          <a:effectLst/>
                          <a:latin typeface="+mn-lt"/>
                        </a:rPr>
                        <a:t>transmission</a:t>
                      </a:r>
                      <a:endParaRPr lang="en-CA" sz="1200" b="0" i="0" u="none" strike="noStrike">
                        <a:effectLst/>
                        <a:latin typeface="+mn-lt"/>
                      </a:endParaRPr>
                    </a:p>
                  </a:txBody>
                  <a:tcPr marL="42624" marR="42624" marT="5920" marB="0" anchor="ctr"/>
                </a:tc>
                <a:tc>
                  <a:txBody>
                    <a:bodyPr/>
                    <a:lstStyle/>
                    <a:p>
                      <a:pPr algn="ctr" fontAlgn="t">
                        <a:lnSpc>
                          <a:spcPct val="107000"/>
                        </a:lnSpc>
                        <a:spcBef>
                          <a:spcPts val="0"/>
                        </a:spcBef>
                        <a:spcAft>
                          <a:spcPts val="0"/>
                        </a:spcAft>
                      </a:pPr>
                      <a:r>
                        <a:rPr lang="en-US" sz="1200" b="0" i="0" u="none" strike="noStrike" dirty="0">
                          <a:effectLst/>
                          <a:latin typeface="+mn-lt"/>
                        </a:rPr>
                        <a:t>Transmission of vehicle</a:t>
                      </a:r>
                    </a:p>
                  </a:txBody>
                  <a:tcPr marL="42624" marR="42624" marT="5920" marB="0" anchor="ctr"/>
                </a:tc>
                <a:extLst>
                  <a:ext uri="{0D108BD9-81ED-4DB2-BD59-A6C34878D82A}">
                    <a16:rowId xmlns:a16="http://schemas.microsoft.com/office/drawing/2014/main" val="1693044098"/>
                  </a:ext>
                </a:extLst>
              </a:tr>
              <a:tr h="250563">
                <a:tc>
                  <a:txBody>
                    <a:bodyPr/>
                    <a:lstStyle/>
                    <a:p>
                      <a:pPr algn="ctr" fontAlgn="b">
                        <a:lnSpc>
                          <a:spcPct val="107000"/>
                        </a:lnSpc>
                        <a:spcBef>
                          <a:spcPts val="0"/>
                        </a:spcBef>
                        <a:spcAft>
                          <a:spcPts val="0"/>
                        </a:spcAft>
                      </a:pPr>
                      <a:r>
                        <a:rPr lang="en-CA" sz="1200" u="none" strike="noStrike">
                          <a:effectLst/>
                          <a:latin typeface="+mn-lt"/>
                        </a:rPr>
                        <a:t>vin</a:t>
                      </a:r>
                      <a:endParaRPr lang="en-CA" sz="1200" b="0" i="0" u="none" strike="noStrike">
                        <a:effectLst/>
                        <a:latin typeface="+mn-lt"/>
                      </a:endParaRPr>
                    </a:p>
                  </a:txBody>
                  <a:tcPr marL="42624" marR="42624" marT="5920" marB="0" anchor="ctr"/>
                </a:tc>
                <a:tc>
                  <a:txBody>
                    <a:bodyPr/>
                    <a:lstStyle/>
                    <a:p>
                      <a:pPr algn="ctr" fontAlgn="t">
                        <a:lnSpc>
                          <a:spcPct val="107000"/>
                        </a:lnSpc>
                        <a:spcBef>
                          <a:spcPts val="0"/>
                        </a:spcBef>
                        <a:spcAft>
                          <a:spcPts val="0"/>
                        </a:spcAft>
                      </a:pPr>
                      <a:r>
                        <a:rPr lang="en-US" sz="1200" b="0" i="0" u="none" strike="noStrike" dirty="0">
                          <a:effectLst/>
                          <a:latin typeface="+mn-lt"/>
                        </a:rPr>
                        <a:t>Vehicle identification number</a:t>
                      </a:r>
                    </a:p>
                  </a:txBody>
                  <a:tcPr marL="42624" marR="42624" marT="5920" marB="0" anchor="ctr"/>
                </a:tc>
                <a:extLst>
                  <a:ext uri="{0D108BD9-81ED-4DB2-BD59-A6C34878D82A}">
                    <a16:rowId xmlns:a16="http://schemas.microsoft.com/office/drawing/2014/main" val="378718439"/>
                  </a:ext>
                </a:extLst>
              </a:tr>
              <a:tr h="250563">
                <a:tc>
                  <a:txBody>
                    <a:bodyPr/>
                    <a:lstStyle/>
                    <a:p>
                      <a:pPr algn="ctr" fontAlgn="b">
                        <a:lnSpc>
                          <a:spcPct val="107000"/>
                        </a:lnSpc>
                        <a:spcBef>
                          <a:spcPts val="0"/>
                        </a:spcBef>
                        <a:spcAft>
                          <a:spcPts val="0"/>
                        </a:spcAft>
                      </a:pPr>
                      <a:r>
                        <a:rPr lang="en-CA" sz="1200" u="none" strike="noStrike">
                          <a:effectLst/>
                          <a:latin typeface="+mn-lt"/>
                        </a:rPr>
                        <a:t>drive</a:t>
                      </a:r>
                      <a:endParaRPr lang="en-CA" sz="1200" b="0" i="0" u="none" strike="noStrike">
                        <a:effectLst/>
                        <a:latin typeface="+mn-lt"/>
                      </a:endParaRPr>
                    </a:p>
                  </a:txBody>
                  <a:tcPr marL="42624" marR="42624" marT="5920" marB="0" anchor="ctr"/>
                </a:tc>
                <a:tc>
                  <a:txBody>
                    <a:bodyPr/>
                    <a:lstStyle/>
                    <a:p>
                      <a:pPr algn="ctr" fontAlgn="t">
                        <a:lnSpc>
                          <a:spcPct val="107000"/>
                        </a:lnSpc>
                        <a:spcBef>
                          <a:spcPts val="0"/>
                        </a:spcBef>
                        <a:spcAft>
                          <a:spcPts val="0"/>
                        </a:spcAft>
                      </a:pPr>
                      <a:r>
                        <a:rPr lang="en-US" sz="1200" b="0" i="0" u="none" strike="noStrike" dirty="0">
                          <a:effectLst/>
                          <a:latin typeface="+mn-lt"/>
                        </a:rPr>
                        <a:t>Type of drive</a:t>
                      </a:r>
                    </a:p>
                  </a:txBody>
                  <a:tcPr marL="42624" marR="42624" marT="5920" marB="0" anchor="ctr"/>
                </a:tc>
                <a:extLst>
                  <a:ext uri="{0D108BD9-81ED-4DB2-BD59-A6C34878D82A}">
                    <a16:rowId xmlns:a16="http://schemas.microsoft.com/office/drawing/2014/main" val="2307450316"/>
                  </a:ext>
                </a:extLst>
              </a:tr>
              <a:tr h="250563">
                <a:tc>
                  <a:txBody>
                    <a:bodyPr/>
                    <a:lstStyle/>
                    <a:p>
                      <a:pPr algn="ctr" fontAlgn="b">
                        <a:lnSpc>
                          <a:spcPct val="107000"/>
                        </a:lnSpc>
                        <a:spcBef>
                          <a:spcPts val="0"/>
                        </a:spcBef>
                        <a:spcAft>
                          <a:spcPts val="0"/>
                        </a:spcAft>
                      </a:pPr>
                      <a:r>
                        <a:rPr lang="en-CA" sz="1200" u="none" strike="noStrike">
                          <a:effectLst/>
                          <a:latin typeface="+mn-lt"/>
                        </a:rPr>
                        <a:t>size</a:t>
                      </a:r>
                      <a:endParaRPr lang="en-CA" sz="1200" b="0" i="0" u="none" strike="noStrike">
                        <a:effectLst/>
                        <a:latin typeface="+mn-lt"/>
                      </a:endParaRPr>
                    </a:p>
                  </a:txBody>
                  <a:tcPr marL="42624" marR="42624" marT="5920" marB="0" anchor="ctr"/>
                </a:tc>
                <a:tc>
                  <a:txBody>
                    <a:bodyPr/>
                    <a:lstStyle/>
                    <a:p>
                      <a:pPr algn="ctr" fontAlgn="t">
                        <a:lnSpc>
                          <a:spcPct val="107000"/>
                        </a:lnSpc>
                        <a:spcBef>
                          <a:spcPts val="0"/>
                        </a:spcBef>
                        <a:spcAft>
                          <a:spcPts val="0"/>
                        </a:spcAft>
                      </a:pPr>
                      <a:r>
                        <a:rPr lang="en-US" sz="1200" b="0" i="0" u="none" strike="noStrike" dirty="0">
                          <a:effectLst/>
                          <a:latin typeface="+mn-lt"/>
                        </a:rPr>
                        <a:t>Size of drive</a:t>
                      </a:r>
                    </a:p>
                  </a:txBody>
                  <a:tcPr marL="42624" marR="42624" marT="5920" marB="0" anchor="ctr"/>
                </a:tc>
                <a:extLst>
                  <a:ext uri="{0D108BD9-81ED-4DB2-BD59-A6C34878D82A}">
                    <a16:rowId xmlns:a16="http://schemas.microsoft.com/office/drawing/2014/main" val="3054608296"/>
                  </a:ext>
                </a:extLst>
              </a:tr>
              <a:tr h="250563">
                <a:tc>
                  <a:txBody>
                    <a:bodyPr/>
                    <a:lstStyle/>
                    <a:p>
                      <a:pPr algn="ctr" fontAlgn="b">
                        <a:lnSpc>
                          <a:spcPct val="107000"/>
                        </a:lnSpc>
                        <a:spcBef>
                          <a:spcPts val="0"/>
                        </a:spcBef>
                        <a:spcAft>
                          <a:spcPts val="0"/>
                        </a:spcAft>
                      </a:pPr>
                      <a:r>
                        <a:rPr lang="en-CA" sz="1200" u="none" strike="noStrike">
                          <a:effectLst/>
                          <a:latin typeface="+mn-lt"/>
                        </a:rPr>
                        <a:t>type</a:t>
                      </a:r>
                      <a:endParaRPr lang="en-CA" sz="1200" b="0" i="0" u="none" strike="noStrike">
                        <a:effectLst/>
                        <a:latin typeface="+mn-lt"/>
                      </a:endParaRPr>
                    </a:p>
                  </a:txBody>
                  <a:tcPr marL="42624" marR="42624" marT="5920" marB="0" anchor="ctr"/>
                </a:tc>
                <a:tc>
                  <a:txBody>
                    <a:bodyPr/>
                    <a:lstStyle/>
                    <a:p>
                      <a:pPr algn="ctr" fontAlgn="t">
                        <a:lnSpc>
                          <a:spcPct val="107000"/>
                        </a:lnSpc>
                        <a:spcBef>
                          <a:spcPts val="0"/>
                        </a:spcBef>
                        <a:spcAft>
                          <a:spcPts val="0"/>
                        </a:spcAft>
                      </a:pPr>
                      <a:r>
                        <a:rPr lang="en-US" sz="1200" b="0" i="0" u="none" strike="noStrike" dirty="0">
                          <a:effectLst/>
                          <a:latin typeface="+mn-lt"/>
                        </a:rPr>
                        <a:t>Generic type of vehicle</a:t>
                      </a:r>
                    </a:p>
                  </a:txBody>
                  <a:tcPr marL="42624" marR="42624" marT="5920" marB="0" anchor="ctr"/>
                </a:tc>
                <a:extLst>
                  <a:ext uri="{0D108BD9-81ED-4DB2-BD59-A6C34878D82A}">
                    <a16:rowId xmlns:a16="http://schemas.microsoft.com/office/drawing/2014/main" val="3085884624"/>
                  </a:ext>
                </a:extLst>
              </a:tr>
              <a:tr h="250563">
                <a:tc>
                  <a:txBody>
                    <a:bodyPr/>
                    <a:lstStyle/>
                    <a:p>
                      <a:pPr algn="ctr" fontAlgn="b">
                        <a:lnSpc>
                          <a:spcPct val="107000"/>
                        </a:lnSpc>
                        <a:spcBef>
                          <a:spcPts val="0"/>
                        </a:spcBef>
                        <a:spcAft>
                          <a:spcPts val="0"/>
                        </a:spcAft>
                      </a:pPr>
                      <a:r>
                        <a:rPr lang="en-CA" sz="1200" u="none" strike="noStrike">
                          <a:effectLst/>
                          <a:latin typeface="+mn-lt"/>
                        </a:rPr>
                        <a:t>paint_color</a:t>
                      </a:r>
                      <a:endParaRPr lang="en-CA" sz="1200" b="0" i="0" u="none" strike="noStrike">
                        <a:effectLst/>
                        <a:latin typeface="+mn-lt"/>
                      </a:endParaRPr>
                    </a:p>
                  </a:txBody>
                  <a:tcPr marL="42624" marR="42624" marT="5920" marB="0" anchor="ctr"/>
                </a:tc>
                <a:tc>
                  <a:txBody>
                    <a:bodyPr/>
                    <a:lstStyle/>
                    <a:p>
                      <a:pPr algn="ctr" fontAlgn="t">
                        <a:lnSpc>
                          <a:spcPct val="107000"/>
                        </a:lnSpc>
                        <a:spcBef>
                          <a:spcPts val="0"/>
                        </a:spcBef>
                        <a:spcAft>
                          <a:spcPts val="0"/>
                        </a:spcAft>
                      </a:pPr>
                      <a:r>
                        <a:rPr lang="en-US" sz="1200" b="0" i="0" u="none" strike="noStrike" dirty="0">
                          <a:effectLst/>
                          <a:latin typeface="+mn-lt"/>
                        </a:rPr>
                        <a:t>Color of vehicle</a:t>
                      </a:r>
                    </a:p>
                  </a:txBody>
                  <a:tcPr marL="42624" marR="42624" marT="5920" marB="0" anchor="ctr"/>
                </a:tc>
                <a:extLst>
                  <a:ext uri="{0D108BD9-81ED-4DB2-BD59-A6C34878D82A}">
                    <a16:rowId xmlns:a16="http://schemas.microsoft.com/office/drawing/2014/main" val="2935016824"/>
                  </a:ext>
                </a:extLst>
              </a:tr>
              <a:tr h="250563">
                <a:tc>
                  <a:txBody>
                    <a:bodyPr/>
                    <a:lstStyle/>
                    <a:p>
                      <a:pPr algn="ctr" fontAlgn="b">
                        <a:lnSpc>
                          <a:spcPct val="107000"/>
                        </a:lnSpc>
                        <a:spcBef>
                          <a:spcPts val="0"/>
                        </a:spcBef>
                        <a:spcAft>
                          <a:spcPts val="0"/>
                        </a:spcAft>
                      </a:pPr>
                      <a:r>
                        <a:rPr lang="en-CA" sz="1200" u="none" strike="noStrike">
                          <a:effectLst/>
                          <a:latin typeface="+mn-lt"/>
                        </a:rPr>
                        <a:t>image_url</a:t>
                      </a:r>
                      <a:endParaRPr lang="en-CA" sz="1200" b="0" i="0" u="none" strike="noStrike">
                        <a:effectLst/>
                        <a:latin typeface="+mn-lt"/>
                      </a:endParaRPr>
                    </a:p>
                  </a:txBody>
                  <a:tcPr marL="42624" marR="42624" marT="5920" marB="0" anchor="ctr"/>
                </a:tc>
                <a:tc>
                  <a:txBody>
                    <a:bodyPr/>
                    <a:lstStyle/>
                    <a:p>
                      <a:pPr algn="ctr" fontAlgn="t">
                        <a:lnSpc>
                          <a:spcPct val="107000"/>
                        </a:lnSpc>
                        <a:spcBef>
                          <a:spcPts val="0"/>
                        </a:spcBef>
                        <a:spcAft>
                          <a:spcPts val="0"/>
                        </a:spcAft>
                      </a:pPr>
                      <a:r>
                        <a:rPr lang="en-US" sz="1200" b="0" i="0" u="none" strike="noStrike" dirty="0">
                          <a:effectLst/>
                          <a:latin typeface="+mn-lt"/>
                        </a:rPr>
                        <a:t>Image URL</a:t>
                      </a:r>
                    </a:p>
                  </a:txBody>
                  <a:tcPr marL="42624" marR="42624" marT="5920" marB="0" anchor="ctr"/>
                </a:tc>
                <a:extLst>
                  <a:ext uri="{0D108BD9-81ED-4DB2-BD59-A6C34878D82A}">
                    <a16:rowId xmlns:a16="http://schemas.microsoft.com/office/drawing/2014/main" val="496979822"/>
                  </a:ext>
                </a:extLst>
              </a:tr>
              <a:tr h="250563">
                <a:tc>
                  <a:txBody>
                    <a:bodyPr/>
                    <a:lstStyle/>
                    <a:p>
                      <a:pPr algn="ctr" fontAlgn="b">
                        <a:lnSpc>
                          <a:spcPct val="107000"/>
                        </a:lnSpc>
                        <a:spcBef>
                          <a:spcPts val="0"/>
                        </a:spcBef>
                        <a:spcAft>
                          <a:spcPts val="0"/>
                        </a:spcAft>
                      </a:pPr>
                      <a:r>
                        <a:rPr lang="en-CA" sz="1200" u="none" strike="noStrike">
                          <a:effectLst/>
                          <a:latin typeface="+mn-lt"/>
                        </a:rPr>
                        <a:t>description</a:t>
                      </a:r>
                      <a:endParaRPr lang="en-CA" sz="1200" b="0" i="0" u="none" strike="noStrike">
                        <a:effectLst/>
                        <a:latin typeface="+mn-lt"/>
                      </a:endParaRPr>
                    </a:p>
                  </a:txBody>
                  <a:tcPr marL="42624" marR="42624" marT="5920" marB="0" anchor="ctr"/>
                </a:tc>
                <a:tc>
                  <a:txBody>
                    <a:bodyPr/>
                    <a:lstStyle/>
                    <a:p>
                      <a:pPr algn="ctr" fontAlgn="t">
                        <a:lnSpc>
                          <a:spcPct val="107000"/>
                        </a:lnSpc>
                        <a:spcBef>
                          <a:spcPts val="0"/>
                        </a:spcBef>
                        <a:spcAft>
                          <a:spcPts val="0"/>
                        </a:spcAft>
                      </a:pPr>
                      <a:r>
                        <a:rPr lang="en-US" sz="1200" b="0" i="0" u="none" strike="noStrike" dirty="0">
                          <a:effectLst/>
                          <a:latin typeface="+mn-lt"/>
                        </a:rPr>
                        <a:t>Listed description of vehicle</a:t>
                      </a:r>
                    </a:p>
                  </a:txBody>
                  <a:tcPr marL="42624" marR="42624" marT="5920" marB="0" anchor="ctr"/>
                </a:tc>
                <a:extLst>
                  <a:ext uri="{0D108BD9-81ED-4DB2-BD59-A6C34878D82A}">
                    <a16:rowId xmlns:a16="http://schemas.microsoft.com/office/drawing/2014/main" val="2744528940"/>
                  </a:ext>
                </a:extLst>
              </a:tr>
              <a:tr h="250563">
                <a:tc>
                  <a:txBody>
                    <a:bodyPr/>
                    <a:lstStyle/>
                    <a:p>
                      <a:pPr algn="ctr" fontAlgn="b">
                        <a:lnSpc>
                          <a:spcPct val="107000"/>
                        </a:lnSpc>
                        <a:spcBef>
                          <a:spcPts val="0"/>
                        </a:spcBef>
                        <a:spcAft>
                          <a:spcPts val="0"/>
                        </a:spcAft>
                      </a:pPr>
                      <a:r>
                        <a:rPr lang="en-CA" sz="1200" u="none" strike="noStrike">
                          <a:effectLst/>
                          <a:latin typeface="+mn-lt"/>
                        </a:rPr>
                        <a:t>county</a:t>
                      </a:r>
                      <a:endParaRPr lang="en-CA" sz="1200" b="0" i="0" u="none" strike="noStrike">
                        <a:effectLst/>
                        <a:latin typeface="+mn-lt"/>
                      </a:endParaRPr>
                    </a:p>
                  </a:txBody>
                  <a:tcPr marL="42624" marR="42624" marT="5920" marB="0" anchor="ctr"/>
                </a:tc>
                <a:tc>
                  <a:txBody>
                    <a:bodyPr/>
                    <a:lstStyle/>
                    <a:p>
                      <a:pPr algn="ctr" fontAlgn="t">
                        <a:lnSpc>
                          <a:spcPct val="107000"/>
                        </a:lnSpc>
                        <a:spcBef>
                          <a:spcPts val="0"/>
                        </a:spcBef>
                        <a:spcAft>
                          <a:spcPts val="0"/>
                        </a:spcAft>
                      </a:pPr>
                      <a:r>
                        <a:rPr lang="en-CA" sz="1200" b="0" i="0" u="none" strike="noStrike" dirty="0">
                          <a:effectLst/>
                          <a:latin typeface="+mn-lt"/>
                        </a:rPr>
                        <a:t>Useless column</a:t>
                      </a:r>
                    </a:p>
                  </a:txBody>
                  <a:tcPr marL="42624" marR="42624" marT="5920" marB="0" anchor="ctr"/>
                </a:tc>
                <a:extLst>
                  <a:ext uri="{0D108BD9-81ED-4DB2-BD59-A6C34878D82A}">
                    <a16:rowId xmlns:a16="http://schemas.microsoft.com/office/drawing/2014/main" val="4199307668"/>
                  </a:ext>
                </a:extLst>
              </a:tr>
              <a:tr h="250563">
                <a:tc>
                  <a:txBody>
                    <a:bodyPr/>
                    <a:lstStyle/>
                    <a:p>
                      <a:pPr algn="ctr" fontAlgn="b">
                        <a:lnSpc>
                          <a:spcPct val="107000"/>
                        </a:lnSpc>
                        <a:spcBef>
                          <a:spcPts val="0"/>
                        </a:spcBef>
                        <a:spcAft>
                          <a:spcPts val="0"/>
                        </a:spcAft>
                      </a:pPr>
                      <a:r>
                        <a:rPr lang="en-CA" sz="1200" u="none" strike="noStrike">
                          <a:effectLst/>
                          <a:latin typeface="+mn-lt"/>
                        </a:rPr>
                        <a:t>state</a:t>
                      </a:r>
                      <a:endParaRPr lang="en-CA" sz="1200" b="0" i="0" u="none" strike="noStrike">
                        <a:effectLst/>
                        <a:latin typeface="+mn-lt"/>
                      </a:endParaRPr>
                    </a:p>
                  </a:txBody>
                  <a:tcPr marL="42624" marR="42624" marT="5920" marB="0" anchor="ctr"/>
                </a:tc>
                <a:tc>
                  <a:txBody>
                    <a:bodyPr/>
                    <a:lstStyle/>
                    <a:p>
                      <a:pPr algn="ctr" fontAlgn="t">
                        <a:lnSpc>
                          <a:spcPct val="107000"/>
                        </a:lnSpc>
                        <a:spcBef>
                          <a:spcPts val="0"/>
                        </a:spcBef>
                        <a:spcAft>
                          <a:spcPts val="0"/>
                        </a:spcAft>
                      </a:pPr>
                      <a:r>
                        <a:rPr lang="en-CA" sz="1200" b="0" i="0" u="none" strike="noStrike" dirty="0">
                          <a:effectLst/>
                          <a:latin typeface="+mn-lt"/>
                        </a:rPr>
                        <a:t>State of listing</a:t>
                      </a:r>
                    </a:p>
                  </a:txBody>
                  <a:tcPr marL="42624" marR="42624" marT="5920" marB="0" anchor="ctr"/>
                </a:tc>
                <a:extLst>
                  <a:ext uri="{0D108BD9-81ED-4DB2-BD59-A6C34878D82A}">
                    <a16:rowId xmlns:a16="http://schemas.microsoft.com/office/drawing/2014/main" val="867445878"/>
                  </a:ext>
                </a:extLst>
              </a:tr>
              <a:tr h="250563">
                <a:tc>
                  <a:txBody>
                    <a:bodyPr/>
                    <a:lstStyle/>
                    <a:p>
                      <a:pPr algn="ctr" fontAlgn="b">
                        <a:lnSpc>
                          <a:spcPct val="107000"/>
                        </a:lnSpc>
                        <a:spcBef>
                          <a:spcPts val="0"/>
                        </a:spcBef>
                        <a:spcAft>
                          <a:spcPts val="0"/>
                        </a:spcAft>
                      </a:pPr>
                      <a:r>
                        <a:rPr lang="en-CA" sz="1200" u="none" strike="noStrike">
                          <a:effectLst/>
                          <a:latin typeface="+mn-lt"/>
                        </a:rPr>
                        <a:t>lat</a:t>
                      </a:r>
                      <a:endParaRPr lang="en-CA" sz="1200" b="0" i="0" u="none" strike="noStrike">
                        <a:effectLst/>
                        <a:latin typeface="+mn-lt"/>
                      </a:endParaRPr>
                    </a:p>
                  </a:txBody>
                  <a:tcPr marL="42624" marR="42624" marT="5920" marB="0" anchor="ctr"/>
                </a:tc>
                <a:tc>
                  <a:txBody>
                    <a:bodyPr/>
                    <a:lstStyle/>
                    <a:p>
                      <a:pPr algn="ctr" fontAlgn="t">
                        <a:lnSpc>
                          <a:spcPct val="107000"/>
                        </a:lnSpc>
                        <a:spcBef>
                          <a:spcPts val="0"/>
                        </a:spcBef>
                        <a:spcAft>
                          <a:spcPts val="0"/>
                        </a:spcAft>
                      </a:pPr>
                      <a:r>
                        <a:rPr lang="en-CA" sz="1200" b="0" i="0" u="none" strike="noStrike" dirty="0">
                          <a:effectLst/>
                          <a:latin typeface="+mn-lt"/>
                        </a:rPr>
                        <a:t>Latitude of listing</a:t>
                      </a:r>
                    </a:p>
                  </a:txBody>
                  <a:tcPr marL="42624" marR="42624" marT="5920" marB="0" anchor="ctr"/>
                </a:tc>
                <a:extLst>
                  <a:ext uri="{0D108BD9-81ED-4DB2-BD59-A6C34878D82A}">
                    <a16:rowId xmlns:a16="http://schemas.microsoft.com/office/drawing/2014/main" val="300644312"/>
                  </a:ext>
                </a:extLst>
              </a:tr>
              <a:tr h="250563">
                <a:tc>
                  <a:txBody>
                    <a:bodyPr/>
                    <a:lstStyle/>
                    <a:p>
                      <a:pPr algn="ctr" fontAlgn="b">
                        <a:lnSpc>
                          <a:spcPct val="107000"/>
                        </a:lnSpc>
                        <a:spcBef>
                          <a:spcPts val="0"/>
                        </a:spcBef>
                        <a:spcAft>
                          <a:spcPts val="0"/>
                        </a:spcAft>
                      </a:pPr>
                      <a:r>
                        <a:rPr lang="en-CA" sz="1200" u="none" strike="noStrike">
                          <a:effectLst/>
                          <a:latin typeface="+mn-lt"/>
                        </a:rPr>
                        <a:t>long</a:t>
                      </a:r>
                      <a:endParaRPr lang="en-CA" sz="1200" b="0" i="0" u="none" strike="noStrike">
                        <a:effectLst/>
                        <a:latin typeface="+mn-lt"/>
                      </a:endParaRPr>
                    </a:p>
                  </a:txBody>
                  <a:tcPr marL="42624" marR="42624" marT="5920" marB="0" anchor="ctr"/>
                </a:tc>
                <a:tc>
                  <a:txBody>
                    <a:bodyPr/>
                    <a:lstStyle/>
                    <a:p>
                      <a:pPr algn="ctr" fontAlgn="t">
                        <a:lnSpc>
                          <a:spcPct val="107000"/>
                        </a:lnSpc>
                        <a:spcBef>
                          <a:spcPts val="0"/>
                        </a:spcBef>
                        <a:spcAft>
                          <a:spcPts val="0"/>
                        </a:spcAft>
                      </a:pPr>
                      <a:r>
                        <a:rPr lang="en-CA" sz="1200" b="0" i="0" u="none" strike="noStrike" dirty="0">
                          <a:effectLst/>
                          <a:latin typeface="+mn-lt"/>
                        </a:rPr>
                        <a:t>Longitude of listing</a:t>
                      </a:r>
                    </a:p>
                  </a:txBody>
                  <a:tcPr marL="42624" marR="42624" marT="5920" marB="0" anchor="ctr"/>
                </a:tc>
                <a:extLst>
                  <a:ext uri="{0D108BD9-81ED-4DB2-BD59-A6C34878D82A}">
                    <a16:rowId xmlns:a16="http://schemas.microsoft.com/office/drawing/2014/main" val="2622314079"/>
                  </a:ext>
                </a:extLst>
              </a:tr>
            </a:tbl>
          </a:graphicData>
        </a:graphic>
      </p:graphicFrame>
    </p:spTree>
    <p:extLst>
      <p:ext uri="{BB962C8B-B14F-4D97-AF65-F5344CB8AC3E}">
        <p14:creationId xmlns:p14="http://schemas.microsoft.com/office/powerpoint/2010/main" val="18442060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419501C6-F015-4273-AF88-E0F6C8538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CA677DB7-5829-45BD-9754-5EC484CC42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65429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C44347-6D27-42D6-9B7B-61A7D506E818}"/>
              </a:ext>
            </a:extLst>
          </p:cNvPr>
          <p:cNvSpPr>
            <a:spLocks noGrp="1"/>
          </p:cNvSpPr>
          <p:nvPr>
            <p:ph type="title"/>
          </p:nvPr>
        </p:nvSpPr>
        <p:spPr>
          <a:xfrm>
            <a:off x="804672" y="2404872"/>
            <a:ext cx="3044950" cy="1627792"/>
          </a:xfrm>
        </p:spPr>
        <p:txBody>
          <a:bodyPr vert="horz" lIns="274320" tIns="182880" rIns="274320" bIns="182880" rtlCol="0" anchor="ctr" anchorCtr="1">
            <a:normAutofit/>
          </a:bodyPr>
          <a:lstStyle/>
          <a:p>
            <a:r>
              <a:rPr lang="en-US" sz="2600"/>
              <a:t>Exploratory Analysis</a:t>
            </a:r>
          </a:p>
        </p:txBody>
      </p:sp>
      <p:sp>
        <p:nvSpPr>
          <p:cNvPr id="6" name="Content Placeholder 2">
            <a:extLst>
              <a:ext uri="{FF2B5EF4-FFF2-40B4-BE49-F238E27FC236}">
                <a16:creationId xmlns:a16="http://schemas.microsoft.com/office/drawing/2014/main" id="{3610D202-9D16-4980-82A1-5DFE2FF82FA7}"/>
              </a:ext>
            </a:extLst>
          </p:cNvPr>
          <p:cNvSpPr>
            <a:spLocks noGrp="1"/>
          </p:cNvSpPr>
          <p:nvPr>
            <p:ph idx="1"/>
          </p:nvPr>
        </p:nvSpPr>
        <p:spPr>
          <a:xfrm>
            <a:off x="4836921" y="99296"/>
            <a:ext cx="7238286" cy="2383928"/>
          </a:xfrm>
        </p:spPr>
        <p:txBody>
          <a:bodyPr anchor="ctr">
            <a:normAutofit lnSpcReduction="10000"/>
          </a:bodyPr>
          <a:lstStyle/>
          <a:p>
            <a:pPr marL="0" indent="0">
              <a:buNone/>
            </a:pPr>
            <a:r>
              <a:rPr lang="en-CA" dirty="0"/>
              <a:t>At first, the intention was to use the model of the vehicles to make  accurate price predictions.  Nevertheless, model is not a categorized data in the dataset, since Craigslist does not demand the users to select it from a pre-defined list and it presents a huge variation. On the other hand, manufacturer is a categorized information with a limited number of categories (as we can see below). </a:t>
            </a:r>
          </a:p>
          <a:p>
            <a:pPr marL="0" indent="0" algn="ctr">
              <a:buNone/>
            </a:pPr>
            <a:r>
              <a:rPr lang="en-CA" sz="2000" i="1" dirty="0"/>
              <a:t>Would it be possible to make accurate predictions using the manufacturer and not the specific vehicle model? </a:t>
            </a:r>
          </a:p>
        </p:txBody>
      </p:sp>
      <p:pic>
        <p:nvPicPr>
          <p:cNvPr id="8" name="Picture 7" descr="Chart, bar chart, histogram&#10;&#10;Description automatically generated">
            <a:extLst>
              <a:ext uri="{FF2B5EF4-FFF2-40B4-BE49-F238E27FC236}">
                <a16:creationId xmlns:a16="http://schemas.microsoft.com/office/drawing/2014/main" id="{A76027B3-A9A9-4324-8F58-D3D98FE5C1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68670" y="2430062"/>
            <a:ext cx="5380353" cy="4392000"/>
          </a:xfrm>
          <a:prstGeom prst="rect">
            <a:avLst/>
          </a:prstGeom>
        </p:spPr>
      </p:pic>
    </p:spTree>
    <p:extLst>
      <p:ext uri="{BB962C8B-B14F-4D97-AF65-F5344CB8AC3E}">
        <p14:creationId xmlns:p14="http://schemas.microsoft.com/office/powerpoint/2010/main" val="6061781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9F26AF7-9AC1-49A4-8F89-2C63E1C0A0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91851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C44347-6D27-42D6-9B7B-61A7D506E818}"/>
              </a:ext>
            </a:extLst>
          </p:cNvPr>
          <p:cNvSpPr>
            <a:spLocks noGrp="1"/>
          </p:cNvSpPr>
          <p:nvPr>
            <p:ph type="title"/>
          </p:nvPr>
        </p:nvSpPr>
        <p:spPr>
          <a:xfrm>
            <a:off x="1600200" y="4269282"/>
            <a:ext cx="8991600" cy="1264762"/>
          </a:xfrm>
        </p:spPr>
        <p:txBody>
          <a:bodyPr vert="horz" lIns="274320" tIns="182880" rIns="274320" bIns="182880" rtlCol="0" anchor="ctr" anchorCtr="1">
            <a:normAutofit/>
          </a:bodyPr>
          <a:lstStyle/>
          <a:p>
            <a:r>
              <a:rPr lang="en-US" sz="3200" dirty="0"/>
              <a:t>Exploratory Analysis</a:t>
            </a:r>
          </a:p>
        </p:txBody>
      </p:sp>
      <p:pic>
        <p:nvPicPr>
          <p:cNvPr id="7" name="Picture 6" descr="Chart, bar chart&#10;&#10;Description automatically generated">
            <a:extLst>
              <a:ext uri="{FF2B5EF4-FFF2-40B4-BE49-F238E27FC236}">
                <a16:creationId xmlns:a16="http://schemas.microsoft.com/office/drawing/2014/main" id="{0D5FF706-A1F8-47D6-95C6-70452B8FF1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2000" y="636517"/>
            <a:ext cx="5760000" cy="3225599"/>
          </a:xfrm>
          <a:prstGeom prst="rect">
            <a:avLst/>
          </a:prstGeom>
        </p:spPr>
      </p:pic>
      <p:pic>
        <p:nvPicPr>
          <p:cNvPr id="13" name="Picture 12" descr="Chart, waterfall chart&#10;&#10;Description automatically generated">
            <a:extLst>
              <a:ext uri="{FF2B5EF4-FFF2-40B4-BE49-F238E27FC236}">
                <a16:creationId xmlns:a16="http://schemas.microsoft.com/office/drawing/2014/main" id="{4F65303E-6488-4A92-8A89-B8FA923932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80002" y="636517"/>
            <a:ext cx="5760000" cy="3182400"/>
          </a:xfrm>
          <a:prstGeom prst="rect">
            <a:avLst/>
          </a:prstGeom>
        </p:spPr>
      </p:pic>
    </p:spTree>
    <p:extLst>
      <p:ext uri="{BB962C8B-B14F-4D97-AF65-F5344CB8AC3E}">
        <p14:creationId xmlns:p14="http://schemas.microsoft.com/office/powerpoint/2010/main" val="27121252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E9F26AF7-9AC1-49A4-8F89-2C63E1C0A0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91851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C44347-6D27-42D6-9B7B-61A7D506E818}"/>
              </a:ext>
            </a:extLst>
          </p:cNvPr>
          <p:cNvSpPr>
            <a:spLocks noGrp="1"/>
          </p:cNvSpPr>
          <p:nvPr>
            <p:ph type="title"/>
          </p:nvPr>
        </p:nvSpPr>
        <p:spPr>
          <a:xfrm>
            <a:off x="1600200" y="4269282"/>
            <a:ext cx="8991600" cy="1264762"/>
          </a:xfrm>
        </p:spPr>
        <p:txBody>
          <a:bodyPr vert="horz" lIns="274320" tIns="182880" rIns="274320" bIns="182880" rtlCol="0" anchor="ctr" anchorCtr="1">
            <a:normAutofit/>
          </a:bodyPr>
          <a:lstStyle/>
          <a:p>
            <a:r>
              <a:rPr lang="en-US" sz="3200"/>
              <a:t>Exploratory Analysis</a:t>
            </a:r>
          </a:p>
        </p:txBody>
      </p:sp>
      <p:pic>
        <p:nvPicPr>
          <p:cNvPr id="21" name="Picture 20" descr="Chart&#10;&#10;Description automatically generated">
            <a:extLst>
              <a:ext uri="{FF2B5EF4-FFF2-40B4-BE49-F238E27FC236}">
                <a16:creationId xmlns:a16="http://schemas.microsoft.com/office/drawing/2014/main" id="{EF89643D-E7AB-4F2A-9F57-939F7B0747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4512" y="613683"/>
            <a:ext cx="5760000" cy="3283199"/>
          </a:xfrm>
          <a:prstGeom prst="rect">
            <a:avLst/>
          </a:prstGeom>
        </p:spPr>
      </p:pic>
      <p:pic>
        <p:nvPicPr>
          <p:cNvPr id="25" name="Picture 24" descr="Chart, bar chart&#10;&#10;Description automatically generated">
            <a:extLst>
              <a:ext uri="{FF2B5EF4-FFF2-40B4-BE49-F238E27FC236}">
                <a16:creationId xmlns:a16="http://schemas.microsoft.com/office/drawing/2014/main" id="{193B1B64-ECC2-4B2D-9C82-C82FFDE6D6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9024" y="613683"/>
            <a:ext cx="5760000" cy="3167999"/>
          </a:xfrm>
          <a:prstGeom prst="rect">
            <a:avLst/>
          </a:prstGeom>
        </p:spPr>
      </p:pic>
    </p:spTree>
    <p:extLst>
      <p:ext uri="{BB962C8B-B14F-4D97-AF65-F5344CB8AC3E}">
        <p14:creationId xmlns:p14="http://schemas.microsoft.com/office/powerpoint/2010/main" val="9692020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E9F26AF7-9AC1-49A4-8F89-2C63E1C0A0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91851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C44347-6D27-42D6-9B7B-61A7D506E818}"/>
              </a:ext>
            </a:extLst>
          </p:cNvPr>
          <p:cNvSpPr>
            <a:spLocks noGrp="1"/>
          </p:cNvSpPr>
          <p:nvPr>
            <p:ph type="title"/>
          </p:nvPr>
        </p:nvSpPr>
        <p:spPr>
          <a:xfrm>
            <a:off x="1600200" y="4269282"/>
            <a:ext cx="8991600" cy="1264762"/>
          </a:xfrm>
        </p:spPr>
        <p:txBody>
          <a:bodyPr vert="horz" lIns="274320" tIns="182880" rIns="274320" bIns="182880" rtlCol="0" anchor="ctr" anchorCtr="1">
            <a:normAutofit/>
          </a:bodyPr>
          <a:lstStyle/>
          <a:p>
            <a:r>
              <a:rPr lang="en-US" sz="3200"/>
              <a:t>Exploratory Analysis</a:t>
            </a:r>
          </a:p>
        </p:txBody>
      </p:sp>
      <p:pic>
        <p:nvPicPr>
          <p:cNvPr id="11" name="Picture 10" descr="Chart, bar chart&#10;&#10;Description automatically generated">
            <a:extLst>
              <a:ext uri="{FF2B5EF4-FFF2-40B4-BE49-F238E27FC236}">
                <a16:creationId xmlns:a16="http://schemas.microsoft.com/office/drawing/2014/main" id="{718C9A61-78C0-40B2-8BC4-9C411D4B67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7936" y="662820"/>
            <a:ext cx="5760000" cy="3369599"/>
          </a:xfrm>
          <a:prstGeom prst="rect">
            <a:avLst/>
          </a:prstGeom>
        </p:spPr>
      </p:pic>
      <p:pic>
        <p:nvPicPr>
          <p:cNvPr id="23" name="Picture 22" descr="Chart, bar chart&#10;&#10;Description automatically generated">
            <a:extLst>
              <a:ext uri="{FF2B5EF4-FFF2-40B4-BE49-F238E27FC236}">
                <a16:creationId xmlns:a16="http://schemas.microsoft.com/office/drawing/2014/main" id="{E9891990-A10F-4F75-A274-DB5644E458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99968" y="662820"/>
            <a:ext cx="5760000" cy="3355199"/>
          </a:xfrm>
          <a:prstGeom prst="rect">
            <a:avLst/>
          </a:prstGeom>
        </p:spPr>
      </p:pic>
    </p:spTree>
    <p:extLst>
      <p:ext uri="{BB962C8B-B14F-4D97-AF65-F5344CB8AC3E}">
        <p14:creationId xmlns:p14="http://schemas.microsoft.com/office/powerpoint/2010/main" val="33828976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E9F26AF7-9AC1-49A4-8F89-2C63E1C0A0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91851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C44347-6D27-42D6-9B7B-61A7D506E818}"/>
              </a:ext>
            </a:extLst>
          </p:cNvPr>
          <p:cNvSpPr>
            <a:spLocks noGrp="1"/>
          </p:cNvSpPr>
          <p:nvPr>
            <p:ph type="title"/>
          </p:nvPr>
        </p:nvSpPr>
        <p:spPr>
          <a:xfrm>
            <a:off x="1600200" y="4269282"/>
            <a:ext cx="8991600" cy="1264762"/>
          </a:xfrm>
        </p:spPr>
        <p:txBody>
          <a:bodyPr vert="horz" lIns="274320" tIns="182880" rIns="274320" bIns="182880" rtlCol="0" anchor="ctr" anchorCtr="1">
            <a:normAutofit/>
          </a:bodyPr>
          <a:lstStyle/>
          <a:p>
            <a:r>
              <a:rPr lang="en-US" sz="3200"/>
              <a:t>Exploratory Analysis</a:t>
            </a:r>
          </a:p>
        </p:txBody>
      </p:sp>
      <p:pic>
        <p:nvPicPr>
          <p:cNvPr id="19" name="Picture 18" descr="Chart, bar chart&#10;&#10;Description automatically generated">
            <a:extLst>
              <a:ext uri="{FF2B5EF4-FFF2-40B4-BE49-F238E27FC236}">
                <a16:creationId xmlns:a16="http://schemas.microsoft.com/office/drawing/2014/main" id="{643D58D0-A4E0-420B-98B3-DA12204B4A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869" y="544662"/>
            <a:ext cx="5760000" cy="3470399"/>
          </a:xfrm>
          <a:prstGeom prst="rect">
            <a:avLst/>
          </a:prstGeom>
        </p:spPr>
      </p:pic>
      <p:pic>
        <p:nvPicPr>
          <p:cNvPr id="3" name="Picture 2" descr="Chart, bar chart&#10;&#10;Description automatically generated">
            <a:extLst>
              <a:ext uri="{FF2B5EF4-FFF2-40B4-BE49-F238E27FC236}">
                <a16:creationId xmlns:a16="http://schemas.microsoft.com/office/drawing/2014/main" id="{9E5F6F79-E656-4220-8D4A-5C4BDE8AD4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60934" y="544662"/>
            <a:ext cx="5760000" cy="3167999"/>
          </a:xfrm>
          <a:prstGeom prst="rect">
            <a:avLst/>
          </a:prstGeom>
        </p:spPr>
      </p:pic>
    </p:spTree>
    <p:extLst>
      <p:ext uri="{BB962C8B-B14F-4D97-AF65-F5344CB8AC3E}">
        <p14:creationId xmlns:p14="http://schemas.microsoft.com/office/powerpoint/2010/main" val="25763288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3F0ADB5-A0B4-4B01-A8C4-FDC34CE22B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A6D0FDE-0241-4C21-A720-A694753582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C44347-6D27-42D6-9B7B-61A7D506E818}"/>
              </a:ext>
            </a:extLst>
          </p:cNvPr>
          <p:cNvSpPr>
            <a:spLocks noGrp="1"/>
          </p:cNvSpPr>
          <p:nvPr>
            <p:ph type="title"/>
          </p:nvPr>
        </p:nvSpPr>
        <p:spPr>
          <a:xfrm>
            <a:off x="401653" y="2681103"/>
            <a:ext cx="3845608" cy="1495794"/>
          </a:xfrm>
          <a:noFill/>
          <a:ln>
            <a:solidFill>
              <a:schemeClr val="bg1"/>
            </a:solidFill>
          </a:ln>
        </p:spPr>
        <p:txBody>
          <a:bodyPr wrap="square">
            <a:normAutofit/>
          </a:bodyPr>
          <a:lstStyle/>
          <a:p>
            <a:r>
              <a:rPr lang="en-CA" dirty="0">
                <a:solidFill>
                  <a:schemeClr val="bg1"/>
                </a:solidFill>
              </a:rPr>
              <a:t>Data </a:t>
            </a:r>
            <a:br>
              <a:rPr lang="en-CA" dirty="0">
                <a:solidFill>
                  <a:schemeClr val="bg1"/>
                </a:solidFill>
              </a:rPr>
            </a:br>
            <a:r>
              <a:rPr lang="en-CA" dirty="0">
                <a:solidFill>
                  <a:schemeClr val="bg1"/>
                </a:solidFill>
              </a:rPr>
              <a:t>Pre-Processing</a:t>
            </a:r>
          </a:p>
        </p:txBody>
      </p:sp>
      <p:graphicFrame>
        <p:nvGraphicFramePr>
          <p:cNvPr id="5" name="Content Placeholder 2">
            <a:extLst>
              <a:ext uri="{FF2B5EF4-FFF2-40B4-BE49-F238E27FC236}">
                <a16:creationId xmlns:a16="http://schemas.microsoft.com/office/drawing/2014/main" id="{DDF2A6E6-0A60-4541-8503-8CF5319116CE}"/>
              </a:ext>
            </a:extLst>
          </p:cNvPr>
          <p:cNvGraphicFramePr>
            <a:graphicFrameLocks noGrp="1"/>
          </p:cNvGraphicFramePr>
          <p:nvPr>
            <p:ph idx="1"/>
            <p:extLst>
              <p:ext uri="{D42A27DB-BD31-4B8C-83A1-F6EECF244321}">
                <p14:modId xmlns:p14="http://schemas.microsoft.com/office/powerpoint/2010/main" val="284472369"/>
              </p:ext>
            </p:extLst>
          </p:nvPr>
        </p:nvGraphicFramePr>
        <p:xfrm>
          <a:off x="5018126" y="333288"/>
          <a:ext cx="6840000" cy="6120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298004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44347-6D27-42D6-9B7B-61A7D506E818}"/>
              </a:ext>
            </a:extLst>
          </p:cNvPr>
          <p:cNvSpPr>
            <a:spLocks noGrp="1"/>
          </p:cNvSpPr>
          <p:nvPr>
            <p:ph type="title"/>
          </p:nvPr>
        </p:nvSpPr>
        <p:spPr>
          <a:xfrm>
            <a:off x="8340090" y="1865621"/>
            <a:ext cx="3044952" cy="2166883"/>
          </a:xfrm>
        </p:spPr>
        <p:txBody>
          <a:bodyPr vert="horz" lIns="274320" tIns="182880" rIns="274320" bIns="182880" rtlCol="0" anchor="ctr" anchorCtr="1">
            <a:normAutofit/>
          </a:bodyPr>
          <a:lstStyle/>
          <a:p>
            <a:r>
              <a:rPr lang="en-US"/>
              <a:t>Data Processing</a:t>
            </a:r>
          </a:p>
        </p:txBody>
      </p:sp>
      <p:sp>
        <p:nvSpPr>
          <p:cNvPr id="3" name="Content Placeholder 2">
            <a:extLst>
              <a:ext uri="{FF2B5EF4-FFF2-40B4-BE49-F238E27FC236}">
                <a16:creationId xmlns:a16="http://schemas.microsoft.com/office/drawing/2014/main" id="{35FE211B-8B1A-4060-9C41-B96C558C0070}"/>
              </a:ext>
            </a:extLst>
          </p:cNvPr>
          <p:cNvSpPr>
            <a:spLocks noGrp="1"/>
          </p:cNvSpPr>
          <p:nvPr>
            <p:ph idx="1"/>
          </p:nvPr>
        </p:nvSpPr>
        <p:spPr>
          <a:xfrm>
            <a:off x="8528505" y="4352544"/>
            <a:ext cx="2668122" cy="1239894"/>
          </a:xfrm>
        </p:spPr>
        <p:txBody>
          <a:bodyPr vert="horz" lIns="91440" tIns="45720" rIns="91440" bIns="45720" rtlCol="0">
            <a:normAutofit/>
          </a:bodyPr>
          <a:lstStyle/>
          <a:p>
            <a:pPr marL="0" indent="0" algn="ctr">
              <a:buNone/>
            </a:pPr>
            <a:r>
              <a:rPr lang="en-US" sz="2800" dirty="0">
                <a:solidFill>
                  <a:schemeClr val="tx1">
                    <a:lumMod val="75000"/>
                    <a:lumOff val="25000"/>
                  </a:schemeClr>
                </a:solidFill>
              </a:rPr>
              <a:t>Correlation and Association</a:t>
            </a:r>
            <a:endParaRPr lang="en-US" dirty="0">
              <a:solidFill>
                <a:schemeClr val="tx1">
                  <a:lumMod val="75000"/>
                  <a:lumOff val="25000"/>
                </a:schemeClr>
              </a:solidFill>
            </a:endParaRPr>
          </a:p>
        </p:txBody>
      </p:sp>
      <p:sp>
        <p:nvSpPr>
          <p:cNvPr id="19" name="Rectangle 13">
            <a:extLst>
              <a:ext uri="{FF2B5EF4-FFF2-40B4-BE49-F238E27FC236}">
                <a16:creationId xmlns:a16="http://schemas.microsoft.com/office/drawing/2014/main" id="{012C5A14-1953-477D-BF65-FC0358753C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48863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hart, treemap chart&#10;&#10;Description automatically generated">
            <a:extLst>
              <a:ext uri="{FF2B5EF4-FFF2-40B4-BE49-F238E27FC236}">
                <a16:creationId xmlns:a16="http://schemas.microsoft.com/office/drawing/2014/main" id="{99E938A7-1EB1-4100-AEF2-F3BB9C7FDE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73651" y="4672621"/>
            <a:ext cx="1927359" cy="1397335"/>
          </a:xfrm>
          <a:prstGeom prst="rect">
            <a:avLst/>
          </a:prstGeom>
        </p:spPr>
      </p:pic>
      <p:sp>
        <p:nvSpPr>
          <p:cNvPr id="20" name="Rectangle 15">
            <a:extLst>
              <a:ext uri="{FF2B5EF4-FFF2-40B4-BE49-F238E27FC236}">
                <a16:creationId xmlns:a16="http://schemas.microsoft.com/office/drawing/2014/main" id="{1B3B02C1-D6A5-4FA5-A35E-210AF310F6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0" y="321731"/>
            <a:ext cx="2773764" cy="2065869"/>
          </a:xfrm>
          <a:prstGeom prst="rect">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BC684D5-3BE6-4567-A7F4-8FAC8B548F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732" y="4157447"/>
            <a:ext cx="4111054" cy="2378820"/>
          </a:xfrm>
          <a:prstGeom prst="rect">
            <a:avLst/>
          </a:prstGeom>
          <a:solidFill>
            <a:schemeClr val="accent2">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picture containing different, bunch, display, sitting&#10;&#10;Description automatically generated">
            <a:extLst>
              <a:ext uri="{FF2B5EF4-FFF2-40B4-BE49-F238E27FC236}">
                <a16:creationId xmlns:a16="http://schemas.microsoft.com/office/drawing/2014/main" id="{C2C7CA1C-54AB-43A3-81C3-CF17128D49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091" y="321731"/>
            <a:ext cx="4315038" cy="3452029"/>
          </a:xfrm>
          <a:prstGeom prst="rect">
            <a:avLst/>
          </a:prstGeom>
        </p:spPr>
      </p:pic>
      <p:sp>
        <p:nvSpPr>
          <p:cNvPr id="10" name="Content Placeholder 2">
            <a:extLst>
              <a:ext uri="{FF2B5EF4-FFF2-40B4-BE49-F238E27FC236}">
                <a16:creationId xmlns:a16="http://schemas.microsoft.com/office/drawing/2014/main" id="{24CE0F21-9273-4BB2-BA1F-20E7C6591682}"/>
              </a:ext>
            </a:extLst>
          </p:cNvPr>
          <p:cNvSpPr txBox="1">
            <a:spLocks/>
          </p:cNvSpPr>
          <p:nvPr/>
        </p:nvSpPr>
        <p:spPr>
          <a:xfrm>
            <a:off x="347743" y="4292458"/>
            <a:ext cx="4064294" cy="2151069"/>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algn="ctr">
              <a:buFont typeface="Arial" panose="020B0604020202020204" pitchFamily="34" charset="0"/>
              <a:buNone/>
            </a:pPr>
            <a:r>
              <a:rPr lang="en-US" sz="2200" dirty="0">
                <a:solidFill>
                  <a:schemeClr val="tx1">
                    <a:lumMod val="75000"/>
                    <a:lumOff val="25000"/>
                  </a:schemeClr>
                </a:solidFill>
              </a:rPr>
              <a:t>It was not found cases of strong multi correlation among variables from the original dataset. </a:t>
            </a:r>
          </a:p>
          <a:p>
            <a:pPr marL="0" indent="0" algn="ctr">
              <a:buFont typeface="Arial" panose="020B0604020202020204" pitchFamily="34" charset="0"/>
              <a:buNone/>
            </a:pPr>
            <a:r>
              <a:rPr lang="en-US" sz="2200" dirty="0">
                <a:solidFill>
                  <a:schemeClr val="tx1">
                    <a:lumMod val="75000"/>
                    <a:lumOff val="25000"/>
                  </a:schemeClr>
                </a:solidFill>
              </a:rPr>
              <a:t>All explanatory variables were kept.</a:t>
            </a:r>
          </a:p>
        </p:txBody>
      </p:sp>
    </p:spTree>
    <p:extLst>
      <p:ext uri="{BB962C8B-B14F-4D97-AF65-F5344CB8AC3E}">
        <p14:creationId xmlns:p14="http://schemas.microsoft.com/office/powerpoint/2010/main" val="28356174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C44347-6D27-42D6-9B7B-61A7D506E818}"/>
              </a:ext>
            </a:extLst>
          </p:cNvPr>
          <p:cNvSpPr>
            <a:spLocks noGrp="1"/>
          </p:cNvSpPr>
          <p:nvPr>
            <p:ph type="title"/>
          </p:nvPr>
        </p:nvSpPr>
        <p:spPr>
          <a:xfrm>
            <a:off x="319596" y="643467"/>
            <a:ext cx="3968319" cy="1728044"/>
          </a:xfrm>
          <a:noFill/>
          <a:ln>
            <a:solidFill>
              <a:schemeClr val="bg1"/>
            </a:solidFill>
          </a:ln>
        </p:spPr>
        <p:txBody>
          <a:bodyPr wrap="square">
            <a:normAutofit/>
          </a:bodyPr>
          <a:lstStyle/>
          <a:p>
            <a:r>
              <a:rPr lang="en-CA" dirty="0">
                <a:solidFill>
                  <a:schemeClr val="bg1"/>
                </a:solidFill>
              </a:rPr>
              <a:t>Data Processing</a:t>
            </a:r>
          </a:p>
        </p:txBody>
      </p:sp>
      <p:sp>
        <p:nvSpPr>
          <p:cNvPr id="3" name="Content Placeholder 2">
            <a:extLst>
              <a:ext uri="{FF2B5EF4-FFF2-40B4-BE49-F238E27FC236}">
                <a16:creationId xmlns:a16="http://schemas.microsoft.com/office/drawing/2014/main" id="{35FE211B-8B1A-4060-9C41-B96C558C0070}"/>
              </a:ext>
            </a:extLst>
          </p:cNvPr>
          <p:cNvSpPr>
            <a:spLocks noGrp="1"/>
          </p:cNvSpPr>
          <p:nvPr>
            <p:ph idx="1"/>
          </p:nvPr>
        </p:nvSpPr>
        <p:spPr>
          <a:xfrm>
            <a:off x="319595" y="2638043"/>
            <a:ext cx="3968319" cy="3950763"/>
          </a:xfrm>
        </p:spPr>
        <p:txBody>
          <a:bodyPr>
            <a:noAutofit/>
          </a:bodyPr>
          <a:lstStyle/>
          <a:p>
            <a:pPr>
              <a:lnSpc>
                <a:spcPct val="90000"/>
              </a:lnSpc>
            </a:pPr>
            <a:r>
              <a:rPr lang="en-CA" sz="2000" dirty="0">
                <a:solidFill>
                  <a:schemeClr val="bg1"/>
                </a:solidFill>
              </a:rPr>
              <a:t>Dummy Variables created for all Categories (except one, the reference Category)</a:t>
            </a:r>
          </a:p>
          <a:p>
            <a:pPr>
              <a:lnSpc>
                <a:spcPct val="90000"/>
              </a:lnSpc>
            </a:pPr>
            <a:endParaRPr lang="en-CA" sz="500" dirty="0">
              <a:solidFill>
                <a:schemeClr val="bg1"/>
              </a:solidFill>
            </a:endParaRPr>
          </a:p>
          <a:p>
            <a:pPr>
              <a:lnSpc>
                <a:spcPct val="90000"/>
              </a:lnSpc>
            </a:pPr>
            <a:r>
              <a:rPr lang="en-CA" sz="2000" dirty="0">
                <a:solidFill>
                  <a:schemeClr val="bg1"/>
                </a:solidFill>
              </a:rPr>
              <a:t>Scaled “price” and “odometer” variables (log transformation) – Better for OLS model</a:t>
            </a:r>
          </a:p>
          <a:p>
            <a:pPr>
              <a:lnSpc>
                <a:spcPct val="90000"/>
              </a:lnSpc>
            </a:pPr>
            <a:endParaRPr lang="en-CA" sz="500" dirty="0">
              <a:solidFill>
                <a:schemeClr val="bg1"/>
              </a:solidFill>
            </a:endParaRPr>
          </a:p>
          <a:p>
            <a:pPr>
              <a:lnSpc>
                <a:spcPct val="90000"/>
              </a:lnSpc>
            </a:pPr>
            <a:r>
              <a:rPr lang="en-CA" sz="2000" dirty="0">
                <a:solidFill>
                  <a:schemeClr val="bg1"/>
                </a:solidFill>
              </a:rPr>
              <a:t>Deleted all rows where vehicles are older than 20 years (rare and collectable)</a:t>
            </a:r>
          </a:p>
          <a:p>
            <a:pPr>
              <a:lnSpc>
                <a:spcPct val="90000"/>
              </a:lnSpc>
            </a:pPr>
            <a:endParaRPr lang="en-CA" sz="500" dirty="0">
              <a:solidFill>
                <a:schemeClr val="bg1"/>
              </a:solidFill>
            </a:endParaRPr>
          </a:p>
          <a:p>
            <a:pPr marL="0" indent="0">
              <a:lnSpc>
                <a:spcPct val="90000"/>
              </a:lnSpc>
              <a:buNone/>
            </a:pPr>
            <a:r>
              <a:rPr lang="en-CA" sz="2000" dirty="0">
                <a:solidFill>
                  <a:schemeClr val="bg1"/>
                </a:solidFill>
              </a:rPr>
              <a:t>Dataset: 45,789 rows x 68 columns</a:t>
            </a:r>
          </a:p>
        </p:txBody>
      </p:sp>
      <p:graphicFrame>
        <p:nvGraphicFramePr>
          <p:cNvPr id="4" name="Table 4">
            <a:extLst>
              <a:ext uri="{FF2B5EF4-FFF2-40B4-BE49-F238E27FC236}">
                <a16:creationId xmlns:a16="http://schemas.microsoft.com/office/drawing/2014/main" id="{B23A87C3-FD4C-47C9-8DD1-52137002EEC1}"/>
              </a:ext>
            </a:extLst>
          </p:cNvPr>
          <p:cNvGraphicFramePr>
            <a:graphicFrameLocks noGrp="1"/>
          </p:cNvGraphicFramePr>
          <p:nvPr>
            <p:extLst>
              <p:ext uri="{D42A27DB-BD31-4B8C-83A1-F6EECF244321}">
                <p14:modId xmlns:p14="http://schemas.microsoft.com/office/powerpoint/2010/main" val="2208745231"/>
              </p:ext>
            </p:extLst>
          </p:nvPr>
        </p:nvGraphicFramePr>
        <p:xfrm>
          <a:off x="5707115" y="592487"/>
          <a:ext cx="5466248" cy="5688412"/>
        </p:xfrm>
        <a:graphic>
          <a:graphicData uri="http://schemas.openxmlformats.org/drawingml/2006/table">
            <a:tbl>
              <a:tblPr firstRow="1" bandRow="1">
                <a:tableStyleId>{5C22544A-7EE6-4342-B048-85BDC9FD1C3A}</a:tableStyleId>
              </a:tblPr>
              <a:tblGrid>
                <a:gridCol w="2641143">
                  <a:extLst>
                    <a:ext uri="{9D8B030D-6E8A-4147-A177-3AD203B41FA5}">
                      <a16:colId xmlns:a16="http://schemas.microsoft.com/office/drawing/2014/main" val="3864108053"/>
                    </a:ext>
                  </a:extLst>
                </a:gridCol>
                <a:gridCol w="2825105">
                  <a:extLst>
                    <a:ext uri="{9D8B030D-6E8A-4147-A177-3AD203B41FA5}">
                      <a16:colId xmlns:a16="http://schemas.microsoft.com/office/drawing/2014/main" val="2145053555"/>
                    </a:ext>
                  </a:extLst>
                </a:gridCol>
              </a:tblGrid>
              <a:tr h="601134">
                <a:tc>
                  <a:txBody>
                    <a:bodyPr/>
                    <a:lstStyle/>
                    <a:p>
                      <a:pPr algn="ctr"/>
                      <a:r>
                        <a:rPr lang="en-CA" sz="2400" dirty="0"/>
                        <a:t>Categorical Variable</a:t>
                      </a:r>
                    </a:p>
                  </a:txBody>
                  <a:tcPr marL="147820" marR="147820" marT="73910" marB="73910"/>
                </a:tc>
                <a:tc>
                  <a:txBody>
                    <a:bodyPr/>
                    <a:lstStyle/>
                    <a:p>
                      <a:pPr algn="ctr"/>
                      <a:r>
                        <a:rPr lang="en-CA" sz="2400" dirty="0"/>
                        <a:t>Reference Category</a:t>
                      </a:r>
                    </a:p>
                  </a:txBody>
                  <a:tcPr marL="147820" marR="147820" marT="73910" marB="73910"/>
                </a:tc>
                <a:extLst>
                  <a:ext uri="{0D108BD9-81ED-4DB2-BD59-A6C34878D82A}">
                    <a16:rowId xmlns:a16="http://schemas.microsoft.com/office/drawing/2014/main" val="699287867"/>
                  </a:ext>
                </a:extLst>
              </a:tr>
              <a:tr h="601134">
                <a:tc>
                  <a:txBody>
                    <a:bodyPr/>
                    <a:lstStyle/>
                    <a:p>
                      <a:pPr algn="ctr"/>
                      <a:r>
                        <a:rPr lang="en-CA" sz="2400" dirty="0"/>
                        <a:t>manufacturer</a:t>
                      </a:r>
                    </a:p>
                  </a:txBody>
                  <a:tcPr marL="147820" marR="147820" marT="73910" marB="73910"/>
                </a:tc>
                <a:tc>
                  <a:txBody>
                    <a:bodyPr/>
                    <a:lstStyle/>
                    <a:p>
                      <a:pPr algn="ctr"/>
                      <a:r>
                        <a:rPr lang="en-CA" sz="2400" dirty="0"/>
                        <a:t>ford</a:t>
                      </a:r>
                    </a:p>
                  </a:txBody>
                  <a:tcPr marL="147820" marR="147820" marT="73910" marB="73910"/>
                </a:tc>
                <a:extLst>
                  <a:ext uri="{0D108BD9-81ED-4DB2-BD59-A6C34878D82A}">
                    <a16:rowId xmlns:a16="http://schemas.microsoft.com/office/drawing/2014/main" val="2228906893"/>
                  </a:ext>
                </a:extLst>
              </a:tr>
              <a:tr h="601134">
                <a:tc>
                  <a:txBody>
                    <a:bodyPr/>
                    <a:lstStyle/>
                    <a:p>
                      <a:pPr algn="ctr"/>
                      <a:r>
                        <a:rPr lang="en-CA" sz="2400" dirty="0"/>
                        <a:t>condition</a:t>
                      </a:r>
                    </a:p>
                  </a:txBody>
                  <a:tcPr marL="147820" marR="147820" marT="73910" marB="73910"/>
                </a:tc>
                <a:tc>
                  <a:txBody>
                    <a:bodyPr/>
                    <a:lstStyle/>
                    <a:p>
                      <a:pPr algn="ctr"/>
                      <a:r>
                        <a:rPr lang="en-CA" sz="2400" dirty="0"/>
                        <a:t>good</a:t>
                      </a:r>
                    </a:p>
                  </a:txBody>
                  <a:tcPr marL="147820" marR="147820" marT="73910" marB="73910"/>
                </a:tc>
                <a:extLst>
                  <a:ext uri="{0D108BD9-81ED-4DB2-BD59-A6C34878D82A}">
                    <a16:rowId xmlns:a16="http://schemas.microsoft.com/office/drawing/2014/main" val="2263120352"/>
                  </a:ext>
                </a:extLst>
              </a:tr>
              <a:tr h="601134">
                <a:tc>
                  <a:txBody>
                    <a:bodyPr/>
                    <a:lstStyle/>
                    <a:p>
                      <a:pPr algn="ctr"/>
                      <a:r>
                        <a:rPr lang="en-CA" sz="2400"/>
                        <a:t>cylinders</a:t>
                      </a:r>
                    </a:p>
                  </a:txBody>
                  <a:tcPr marL="147820" marR="147820" marT="73910" marB="73910"/>
                </a:tc>
                <a:tc>
                  <a:txBody>
                    <a:bodyPr/>
                    <a:lstStyle/>
                    <a:p>
                      <a:pPr algn="ctr"/>
                      <a:r>
                        <a:rPr lang="en-CA" sz="2400" dirty="0"/>
                        <a:t>6 cylinders</a:t>
                      </a:r>
                    </a:p>
                  </a:txBody>
                  <a:tcPr marL="147820" marR="147820" marT="73910" marB="73910"/>
                </a:tc>
                <a:extLst>
                  <a:ext uri="{0D108BD9-81ED-4DB2-BD59-A6C34878D82A}">
                    <a16:rowId xmlns:a16="http://schemas.microsoft.com/office/drawing/2014/main" val="1531212309"/>
                  </a:ext>
                </a:extLst>
              </a:tr>
              <a:tr h="601134">
                <a:tc>
                  <a:txBody>
                    <a:bodyPr/>
                    <a:lstStyle/>
                    <a:p>
                      <a:pPr algn="ctr"/>
                      <a:r>
                        <a:rPr lang="en-CA" sz="2400"/>
                        <a:t>fuel</a:t>
                      </a:r>
                    </a:p>
                  </a:txBody>
                  <a:tcPr marL="147820" marR="147820" marT="73910" marB="73910"/>
                </a:tc>
                <a:tc>
                  <a:txBody>
                    <a:bodyPr/>
                    <a:lstStyle/>
                    <a:p>
                      <a:pPr algn="ctr"/>
                      <a:r>
                        <a:rPr lang="en-CA" sz="2400" dirty="0"/>
                        <a:t>gas</a:t>
                      </a:r>
                    </a:p>
                  </a:txBody>
                  <a:tcPr marL="147820" marR="147820" marT="73910" marB="73910"/>
                </a:tc>
                <a:extLst>
                  <a:ext uri="{0D108BD9-81ED-4DB2-BD59-A6C34878D82A}">
                    <a16:rowId xmlns:a16="http://schemas.microsoft.com/office/drawing/2014/main" val="2792429191"/>
                  </a:ext>
                </a:extLst>
              </a:tr>
              <a:tr h="601134">
                <a:tc>
                  <a:txBody>
                    <a:bodyPr/>
                    <a:lstStyle/>
                    <a:p>
                      <a:pPr algn="ctr"/>
                      <a:r>
                        <a:rPr lang="en-CA" sz="2400"/>
                        <a:t>transmission</a:t>
                      </a:r>
                    </a:p>
                  </a:txBody>
                  <a:tcPr marL="147820" marR="147820" marT="73910" marB="73910"/>
                </a:tc>
                <a:tc>
                  <a:txBody>
                    <a:bodyPr/>
                    <a:lstStyle/>
                    <a:p>
                      <a:pPr algn="ctr"/>
                      <a:r>
                        <a:rPr lang="en-CA" sz="2400" dirty="0"/>
                        <a:t>automatic</a:t>
                      </a:r>
                    </a:p>
                  </a:txBody>
                  <a:tcPr marL="147820" marR="147820" marT="73910" marB="73910"/>
                </a:tc>
                <a:extLst>
                  <a:ext uri="{0D108BD9-81ED-4DB2-BD59-A6C34878D82A}">
                    <a16:rowId xmlns:a16="http://schemas.microsoft.com/office/drawing/2014/main" val="1808076179"/>
                  </a:ext>
                </a:extLst>
              </a:tr>
              <a:tr h="601134">
                <a:tc>
                  <a:txBody>
                    <a:bodyPr/>
                    <a:lstStyle/>
                    <a:p>
                      <a:pPr algn="ctr"/>
                      <a:r>
                        <a:rPr lang="en-CA" sz="2400"/>
                        <a:t>size</a:t>
                      </a:r>
                    </a:p>
                  </a:txBody>
                  <a:tcPr marL="147820" marR="147820" marT="73910" marB="73910"/>
                </a:tc>
                <a:tc>
                  <a:txBody>
                    <a:bodyPr/>
                    <a:lstStyle/>
                    <a:p>
                      <a:pPr algn="ctr"/>
                      <a:r>
                        <a:rPr lang="en-CA" sz="2400" dirty="0"/>
                        <a:t>mid-size</a:t>
                      </a:r>
                    </a:p>
                  </a:txBody>
                  <a:tcPr marL="147820" marR="147820" marT="73910" marB="73910"/>
                </a:tc>
                <a:extLst>
                  <a:ext uri="{0D108BD9-81ED-4DB2-BD59-A6C34878D82A}">
                    <a16:rowId xmlns:a16="http://schemas.microsoft.com/office/drawing/2014/main" val="4190687803"/>
                  </a:ext>
                </a:extLst>
              </a:tr>
              <a:tr h="601134">
                <a:tc>
                  <a:txBody>
                    <a:bodyPr/>
                    <a:lstStyle/>
                    <a:p>
                      <a:pPr algn="ctr"/>
                      <a:r>
                        <a:rPr lang="en-CA" sz="2400"/>
                        <a:t>type</a:t>
                      </a:r>
                    </a:p>
                  </a:txBody>
                  <a:tcPr marL="147820" marR="147820" marT="73910" marB="73910"/>
                </a:tc>
                <a:tc>
                  <a:txBody>
                    <a:bodyPr/>
                    <a:lstStyle/>
                    <a:p>
                      <a:pPr algn="ctr"/>
                      <a:r>
                        <a:rPr lang="en-CA" sz="2400" dirty="0"/>
                        <a:t>sedan</a:t>
                      </a:r>
                    </a:p>
                  </a:txBody>
                  <a:tcPr marL="147820" marR="147820" marT="73910" marB="73910"/>
                </a:tc>
                <a:extLst>
                  <a:ext uri="{0D108BD9-81ED-4DB2-BD59-A6C34878D82A}">
                    <a16:rowId xmlns:a16="http://schemas.microsoft.com/office/drawing/2014/main" val="3392389122"/>
                  </a:ext>
                </a:extLst>
              </a:tr>
              <a:tr h="601134">
                <a:tc>
                  <a:txBody>
                    <a:bodyPr/>
                    <a:lstStyle/>
                    <a:p>
                      <a:pPr algn="ctr"/>
                      <a:r>
                        <a:rPr lang="en-CA" sz="2400"/>
                        <a:t>paint_color</a:t>
                      </a:r>
                    </a:p>
                  </a:txBody>
                  <a:tcPr marL="147820" marR="147820" marT="73910" marB="73910"/>
                </a:tc>
                <a:tc>
                  <a:txBody>
                    <a:bodyPr/>
                    <a:lstStyle/>
                    <a:p>
                      <a:pPr algn="ctr"/>
                      <a:r>
                        <a:rPr lang="en-CA" sz="2400" dirty="0"/>
                        <a:t>black</a:t>
                      </a:r>
                    </a:p>
                  </a:txBody>
                  <a:tcPr marL="147820" marR="147820" marT="73910" marB="73910"/>
                </a:tc>
                <a:extLst>
                  <a:ext uri="{0D108BD9-81ED-4DB2-BD59-A6C34878D82A}">
                    <a16:rowId xmlns:a16="http://schemas.microsoft.com/office/drawing/2014/main" val="2342367766"/>
                  </a:ext>
                </a:extLst>
              </a:tr>
            </a:tbl>
          </a:graphicData>
        </a:graphic>
      </p:graphicFrame>
    </p:spTree>
    <p:extLst>
      <p:ext uri="{BB962C8B-B14F-4D97-AF65-F5344CB8AC3E}">
        <p14:creationId xmlns:p14="http://schemas.microsoft.com/office/powerpoint/2010/main" val="8687852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3530FE0-C542-45A1-BCD8-935787009C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351" y="640080"/>
            <a:ext cx="8924024" cy="5200996"/>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2A658D9-F185-44F1-BA33-D50320D1D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0543" y="825096"/>
            <a:ext cx="8549640" cy="483096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5FE211B-8B1A-4060-9C41-B96C558C0070}"/>
              </a:ext>
            </a:extLst>
          </p:cNvPr>
          <p:cNvSpPr>
            <a:spLocks noGrp="1"/>
          </p:cNvSpPr>
          <p:nvPr>
            <p:ph idx="1"/>
          </p:nvPr>
        </p:nvSpPr>
        <p:spPr>
          <a:xfrm>
            <a:off x="830543" y="825096"/>
            <a:ext cx="6602725" cy="3119375"/>
          </a:xfrm>
        </p:spPr>
        <p:txBody>
          <a:bodyPr anchor="ctr">
            <a:normAutofit fontScale="92500"/>
          </a:bodyPr>
          <a:lstStyle/>
          <a:p>
            <a:pPr marL="0" indent="0">
              <a:lnSpc>
                <a:spcPct val="90000"/>
              </a:lnSpc>
              <a:buNone/>
            </a:pPr>
            <a:r>
              <a:rPr lang="en-CA" sz="2600" dirty="0">
                <a:solidFill>
                  <a:srgbClr val="404040"/>
                </a:solidFill>
              </a:rPr>
              <a:t>Model Outcome for Ordinary Least Squares (OLS) applied to the </a:t>
            </a:r>
            <a:r>
              <a:rPr lang="en-CA" sz="2600" u="sng" dirty="0">
                <a:solidFill>
                  <a:srgbClr val="404040"/>
                </a:solidFill>
              </a:rPr>
              <a:t>whole</a:t>
            </a:r>
            <a:r>
              <a:rPr lang="en-CA" sz="2600" dirty="0">
                <a:solidFill>
                  <a:srgbClr val="404040"/>
                </a:solidFill>
              </a:rPr>
              <a:t> dataset</a:t>
            </a:r>
          </a:p>
          <a:p>
            <a:pPr marL="0" indent="0">
              <a:lnSpc>
                <a:spcPct val="90000"/>
              </a:lnSpc>
              <a:buNone/>
            </a:pPr>
            <a:endParaRPr lang="en-CA" sz="1200" dirty="0">
              <a:solidFill>
                <a:srgbClr val="404040"/>
              </a:solidFill>
            </a:endParaRPr>
          </a:p>
          <a:p>
            <a:pPr marL="0" indent="0">
              <a:lnSpc>
                <a:spcPct val="90000"/>
              </a:lnSpc>
              <a:spcBef>
                <a:spcPts val="600"/>
              </a:spcBef>
              <a:buNone/>
            </a:pPr>
            <a:r>
              <a:rPr lang="en-CA" sz="1200" dirty="0">
                <a:solidFill>
                  <a:srgbClr val="404040"/>
                </a:solidFill>
                <a:latin typeface="Courier New" panose="02070309020205020404" pitchFamily="49" charset="0"/>
                <a:cs typeface="Courier New" panose="02070309020205020404" pitchFamily="49" charset="0"/>
              </a:rPr>
              <a:t>Results: Ordinary least squares</a:t>
            </a:r>
          </a:p>
          <a:p>
            <a:pPr marL="0" indent="0">
              <a:lnSpc>
                <a:spcPct val="90000"/>
              </a:lnSpc>
              <a:spcBef>
                <a:spcPts val="600"/>
              </a:spcBef>
              <a:buNone/>
            </a:pPr>
            <a:r>
              <a:rPr lang="en-CA" sz="1200" dirty="0">
                <a:solidFill>
                  <a:srgbClr val="404040"/>
                </a:solidFill>
                <a:latin typeface="Courier New" panose="02070309020205020404" pitchFamily="49" charset="0"/>
                <a:cs typeface="Courier New" panose="02070309020205020404" pitchFamily="49" charset="0"/>
              </a:rPr>
              <a:t>============================================================================</a:t>
            </a:r>
          </a:p>
          <a:p>
            <a:pPr marL="0" indent="0">
              <a:lnSpc>
                <a:spcPct val="90000"/>
              </a:lnSpc>
              <a:spcBef>
                <a:spcPts val="600"/>
              </a:spcBef>
              <a:buNone/>
            </a:pPr>
            <a:r>
              <a:rPr lang="en-CA" sz="1200" dirty="0">
                <a:solidFill>
                  <a:srgbClr val="404040"/>
                </a:solidFill>
                <a:latin typeface="Courier New" panose="02070309020205020404" pitchFamily="49" charset="0"/>
                <a:cs typeface="Courier New" panose="02070309020205020404" pitchFamily="49" charset="0"/>
              </a:rPr>
              <a:t>Model:                 </a:t>
            </a:r>
            <a:r>
              <a:rPr lang="en-CA" sz="1300" b="1" dirty="0">
                <a:solidFill>
                  <a:srgbClr val="404040"/>
                </a:solidFill>
                <a:latin typeface="Courier New" panose="02070309020205020404" pitchFamily="49" charset="0"/>
                <a:cs typeface="Courier New" panose="02070309020205020404" pitchFamily="49" charset="0"/>
              </a:rPr>
              <a:t>OLS</a:t>
            </a:r>
            <a:r>
              <a:rPr lang="en-CA" sz="1200" dirty="0">
                <a:solidFill>
                  <a:srgbClr val="404040"/>
                </a:solidFill>
                <a:latin typeface="Courier New" panose="02070309020205020404" pitchFamily="49" charset="0"/>
                <a:cs typeface="Courier New" panose="02070309020205020404" pitchFamily="49" charset="0"/>
              </a:rPr>
              <a:t>                 Adj. R-squared:        </a:t>
            </a:r>
            <a:r>
              <a:rPr lang="en-CA" sz="1300" b="1" dirty="0">
                <a:solidFill>
                  <a:srgbClr val="404040"/>
                </a:solidFill>
                <a:latin typeface="Courier New" panose="02070309020205020404" pitchFamily="49" charset="0"/>
                <a:cs typeface="Courier New" panose="02070309020205020404" pitchFamily="49" charset="0"/>
              </a:rPr>
              <a:t>0.689</a:t>
            </a:r>
            <a:r>
              <a:rPr lang="en-CA" sz="1200" dirty="0">
                <a:solidFill>
                  <a:srgbClr val="404040"/>
                </a:solidFill>
                <a:latin typeface="Courier New" panose="02070309020205020404" pitchFamily="49" charset="0"/>
                <a:cs typeface="Courier New" panose="02070309020205020404" pitchFamily="49" charset="0"/>
              </a:rPr>
              <a:t>     </a:t>
            </a:r>
          </a:p>
          <a:p>
            <a:pPr marL="0" indent="0">
              <a:lnSpc>
                <a:spcPct val="90000"/>
              </a:lnSpc>
              <a:spcBef>
                <a:spcPts val="600"/>
              </a:spcBef>
              <a:buNone/>
            </a:pPr>
            <a:r>
              <a:rPr lang="en-CA" sz="1200" dirty="0">
                <a:solidFill>
                  <a:srgbClr val="404040"/>
                </a:solidFill>
                <a:latin typeface="Courier New" panose="02070309020205020404" pitchFamily="49" charset="0"/>
                <a:cs typeface="Courier New" panose="02070309020205020404" pitchFamily="49" charset="0"/>
              </a:rPr>
              <a:t>Dependent Variable:    </a:t>
            </a:r>
            <a:r>
              <a:rPr lang="en-CA" sz="1200" dirty="0" err="1">
                <a:solidFill>
                  <a:srgbClr val="404040"/>
                </a:solidFill>
                <a:latin typeface="Courier New" panose="02070309020205020404" pitchFamily="49" charset="0"/>
                <a:cs typeface="Courier New" panose="02070309020205020404" pitchFamily="49" charset="0"/>
              </a:rPr>
              <a:t>price_log</a:t>
            </a:r>
            <a:r>
              <a:rPr lang="en-CA" sz="1200" dirty="0">
                <a:solidFill>
                  <a:srgbClr val="404040"/>
                </a:solidFill>
                <a:latin typeface="Courier New" panose="02070309020205020404" pitchFamily="49" charset="0"/>
                <a:cs typeface="Courier New" panose="02070309020205020404" pitchFamily="49" charset="0"/>
              </a:rPr>
              <a:t>           AIC:                   50624.7161</a:t>
            </a:r>
          </a:p>
          <a:p>
            <a:pPr marL="0" indent="0">
              <a:lnSpc>
                <a:spcPct val="90000"/>
              </a:lnSpc>
              <a:spcBef>
                <a:spcPts val="600"/>
              </a:spcBef>
              <a:buNone/>
            </a:pPr>
            <a:r>
              <a:rPr lang="en-CA" sz="1200" dirty="0">
                <a:solidFill>
                  <a:srgbClr val="404040"/>
                </a:solidFill>
                <a:latin typeface="Courier New" panose="02070309020205020404" pitchFamily="49" charset="0"/>
                <a:cs typeface="Courier New" panose="02070309020205020404" pitchFamily="49" charset="0"/>
              </a:rPr>
              <a:t>Date:                  2020-11-05 14:32    BIC:                   51218.4784</a:t>
            </a:r>
          </a:p>
          <a:p>
            <a:pPr marL="0" indent="0">
              <a:lnSpc>
                <a:spcPct val="90000"/>
              </a:lnSpc>
              <a:spcBef>
                <a:spcPts val="600"/>
              </a:spcBef>
              <a:buNone/>
            </a:pPr>
            <a:r>
              <a:rPr lang="en-CA" sz="1200" dirty="0">
                <a:solidFill>
                  <a:srgbClr val="404040"/>
                </a:solidFill>
                <a:latin typeface="Courier New" panose="02070309020205020404" pitchFamily="49" charset="0"/>
                <a:cs typeface="Courier New" panose="02070309020205020404" pitchFamily="49" charset="0"/>
              </a:rPr>
              <a:t>No. Observations:      45789               Log-Likelihood:        -25244.   </a:t>
            </a:r>
          </a:p>
          <a:p>
            <a:pPr marL="0" indent="0">
              <a:lnSpc>
                <a:spcPct val="90000"/>
              </a:lnSpc>
              <a:spcBef>
                <a:spcPts val="600"/>
              </a:spcBef>
              <a:buNone/>
            </a:pPr>
            <a:r>
              <a:rPr lang="en-CA" sz="1200" dirty="0">
                <a:solidFill>
                  <a:srgbClr val="404040"/>
                </a:solidFill>
                <a:latin typeface="Courier New" panose="02070309020205020404" pitchFamily="49" charset="0"/>
                <a:cs typeface="Courier New" panose="02070309020205020404" pitchFamily="49" charset="0"/>
              </a:rPr>
              <a:t>Df Model:              67                  F-statistic:           1515.     </a:t>
            </a:r>
          </a:p>
          <a:p>
            <a:pPr marL="0" indent="0">
              <a:lnSpc>
                <a:spcPct val="90000"/>
              </a:lnSpc>
              <a:spcBef>
                <a:spcPts val="600"/>
              </a:spcBef>
              <a:buNone/>
            </a:pPr>
            <a:r>
              <a:rPr lang="en-CA" sz="1200" dirty="0">
                <a:solidFill>
                  <a:srgbClr val="404040"/>
                </a:solidFill>
                <a:latin typeface="Courier New" panose="02070309020205020404" pitchFamily="49" charset="0"/>
                <a:cs typeface="Courier New" panose="02070309020205020404" pitchFamily="49" charset="0"/>
              </a:rPr>
              <a:t>Df Residuals:          45721               Prob (F-statistic):    </a:t>
            </a:r>
            <a:r>
              <a:rPr lang="en-CA" sz="1200" b="1" dirty="0">
                <a:solidFill>
                  <a:srgbClr val="404040"/>
                </a:solidFill>
                <a:latin typeface="Courier New" panose="02070309020205020404" pitchFamily="49" charset="0"/>
                <a:cs typeface="Courier New" panose="02070309020205020404" pitchFamily="49" charset="0"/>
              </a:rPr>
              <a:t>0.00</a:t>
            </a:r>
            <a:r>
              <a:rPr lang="en-CA" sz="1200" dirty="0">
                <a:solidFill>
                  <a:srgbClr val="404040"/>
                </a:solidFill>
                <a:latin typeface="Courier New" panose="02070309020205020404" pitchFamily="49" charset="0"/>
                <a:cs typeface="Courier New" panose="02070309020205020404" pitchFamily="49" charset="0"/>
              </a:rPr>
              <a:t>      </a:t>
            </a:r>
          </a:p>
          <a:p>
            <a:pPr marL="0" indent="0">
              <a:lnSpc>
                <a:spcPct val="90000"/>
              </a:lnSpc>
              <a:spcBef>
                <a:spcPts val="600"/>
              </a:spcBef>
              <a:buNone/>
            </a:pPr>
            <a:r>
              <a:rPr lang="en-CA" sz="1200" b="1" dirty="0">
                <a:solidFill>
                  <a:srgbClr val="FF0000"/>
                </a:solidFill>
                <a:latin typeface="Courier New" panose="02070309020205020404" pitchFamily="49" charset="0"/>
                <a:cs typeface="Courier New" panose="02070309020205020404" pitchFamily="49" charset="0"/>
              </a:rPr>
              <a:t>R-squared:             </a:t>
            </a:r>
            <a:r>
              <a:rPr lang="en-CA" sz="1300" b="1" dirty="0">
                <a:solidFill>
                  <a:srgbClr val="FF0000"/>
                </a:solidFill>
                <a:latin typeface="Courier New" panose="02070309020205020404" pitchFamily="49" charset="0"/>
                <a:cs typeface="Courier New" panose="02070309020205020404" pitchFamily="49" charset="0"/>
              </a:rPr>
              <a:t>0.689</a:t>
            </a:r>
            <a:r>
              <a:rPr lang="en-CA" sz="1200" dirty="0">
                <a:solidFill>
                  <a:srgbClr val="404040"/>
                </a:solidFill>
                <a:latin typeface="Courier New" panose="02070309020205020404" pitchFamily="49" charset="0"/>
                <a:cs typeface="Courier New" panose="02070309020205020404" pitchFamily="49" charset="0"/>
              </a:rPr>
              <a:t>               Scale:                 0.17662 </a:t>
            </a:r>
          </a:p>
        </p:txBody>
      </p:sp>
      <p:sp>
        <p:nvSpPr>
          <p:cNvPr id="12" name="Oval 11">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76718" y="1443035"/>
            <a:ext cx="3971932" cy="3971930"/>
          </a:xfrm>
          <a:prstGeom prst="ellipse">
            <a:avLst/>
          </a:prstGeom>
          <a:solidFill>
            <a:srgbClr val="FFFFFF"/>
          </a:solidFill>
          <a:ln w="317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C44347-6D27-42D6-9B7B-61A7D506E818}"/>
              </a:ext>
            </a:extLst>
          </p:cNvPr>
          <p:cNvSpPr>
            <a:spLocks noGrp="1"/>
          </p:cNvSpPr>
          <p:nvPr>
            <p:ph type="title"/>
          </p:nvPr>
        </p:nvSpPr>
        <p:spPr>
          <a:xfrm>
            <a:off x="7720168" y="1586484"/>
            <a:ext cx="3685032" cy="3685032"/>
          </a:xfrm>
          <a:prstGeom prst="ellipse">
            <a:avLst/>
          </a:prstGeom>
          <a:solidFill>
            <a:schemeClr val="accent2"/>
          </a:solidFill>
          <a:ln>
            <a:noFill/>
          </a:ln>
        </p:spPr>
        <p:txBody>
          <a:bodyPr>
            <a:normAutofit/>
          </a:bodyPr>
          <a:lstStyle/>
          <a:p>
            <a:r>
              <a:rPr lang="en-CA" sz="3000" dirty="0">
                <a:solidFill>
                  <a:srgbClr val="FFFFFF"/>
                </a:solidFill>
              </a:rPr>
              <a:t>Data Modeling</a:t>
            </a:r>
          </a:p>
        </p:txBody>
      </p:sp>
      <p:sp>
        <p:nvSpPr>
          <p:cNvPr id="7" name="Content Placeholder 2">
            <a:extLst>
              <a:ext uri="{FF2B5EF4-FFF2-40B4-BE49-F238E27FC236}">
                <a16:creationId xmlns:a16="http://schemas.microsoft.com/office/drawing/2014/main" id="{EE63EC63-706E-44B6-B54A-BEFEF4A4CACB}"/>
              </a:ext>
            </a:extLst>
          </p:cNvPr>
          <p:cNvSpPr txBox="1">
            <a:spLocks/>
          </p:cNvSpPr>
          <p:nvPr/>
        </p:nvSpPr>
        <p:spPr>
          <a:xfrm>
            <a:off x="830543" y="4020003"/>
            <a:ext cx="6746175" cy="1636057"/>
          </a:xfrm>
          <a:prstGeom prst="rect">
            <a:avLst/>
          </a:prstGeom>
        </p:spPr>
        <p:txBody>
          <a:bodyPr vert="horz" lIns="91440" tIns="45720" rIns="91440" bIns="45720" rtlCol="0" anchor="ctr">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a:buFont typeface="Arial" panose="020B0604020202020204" pitchFamily="34" charset="0"/>
              <a:buNone/>
            </a:pPr>
            <a:r>
              <a:rPr lang="en-CA" sz="2000" dirty="0"/>
              <a:t>A first glance over the OLS model using the pre-processed dataset shows that the model is not much accurate yet. </a:t>
            </a:r>
            <a:r>
              <a:rPr lang="en-CA" sz="2000" dirty="0">
                <a:solidFill>
                  <a:srgbClr val="FF0000"/>
                </a:solidFill>
              </a:rPr>
              <a:t>Only 68.9% </a:t>
            </a:r>
            <a:r>
              <a:rPr lang="en-CA" sz="2000" dirty="0"/>
              <a:t>of the information (R-Square) from the dataset explain the Sales Price (with 95% confidence).</a:t>
            </a:r>
          </a:p>
        </p:txBody>
      </p:sp>
      <p:sp>
        <p:nvSpPr>
          <p:cNvPr id="9" name="Content Placeholder 2">
            <a:extLst>
              <a:ext uri="{FF2B5EF4-FFF2-40B4-BE49-F238E27FC236}">
                <a16:creationId xmlns:a16="http://schemas.microsoft.com/office/drawing/2014/main" id="{5EC2CC78-321F-4F12-9FC4-143610F8AF41}"/>
              </a:ext>
            </a:extLst>
          </p:cNvPr>
          <p:cNvSpPr txBox="1">
            <a:spLocks/>
          </p:cNvSpPr>
          <p:nvPr/>
        </p:nvSpPr>
        <p:spPr>
          <a:xfrm>
            <a:off x="643351" y="5733496"/>
            <a:ext cx="9056461" cy="940351"/>
          </a:xfrm>
          <a:prstGeom prst="rect">
            <a:avLst/>
          </a:prstGeom>
        </p:spPr>
        <p:txBody>
          <a:bodyPr vert="horz" lIns="91440" tIns="45720" rIns="91440" bIns="45720" rtlCol="0" anchor="ctr">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a:spcBef>
                <a:spcPts val="0"/>
              </a:spcBef>
              <a:buFont typeface="Arial" panose="020B0604020202020204" pitchFamily="34" charset="0"/>
              <a:buNone/>
            </a:pPr>
            <a:r>
              <a:rPr lang="en-CA" sz="1600" b="1" i="1" u="sng" dirty="0">
                <a:solidFill>
                  <a:srgbClr val="FF0000"/>
                </a:solidFill>
              </a:rPr>
              <a:t>Necessary to improve the model</a:t>
            </a:r>
          </a:p>
          <a:p>
            <a:pPr>
              <a:lnSpc>
                <a:spcPct val="120000"/>
              </a:lnSpc>
              <a:spcBef>
                <a:spcPts val="0"/>
              </a:spcBef>
            </a:pPr>
            <a:r>
              <a:rPr lang="en-CA" sz="1500" dirty="0"/>
              <a:t>Eliminate explanatory variables which are not statically significant (they do not impact the prices in at least 95%)</a:t>
            </a:r>
          </a:p>
          <a:p>
            <a:pPr>
              <a:lnSpc>
                <a:spcPct val="120000"/>
              </a:lnSpc>
              <a:spcBef>
                <a:spcPts val="0"/>
              </a:spcBef>
            </a:pPr>
            <a:r>
              <a:rPr lang="en-CA" sz="1500" dirty="0"/>
              <a:t>Eliminate outliers</a:t>
            </a:r>
          </a:p>
        </p:txBody>
      </p:sp>
    </p:spTree>
    <p:extLst>
      <p:ext uri="{BB962C8B-B14F-4D97-AF65-F5344CB8AC3E}">
        <p14:creationId xmlns:p14="http://schemas.microsoft.com/office/powerpoint/2010/main" val="26148942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C44347-6D27-42D6-9B7B-61A7D506E818}"/>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CA" sz="3000" dirty="0">
                <a:solidFill>
                  <a:srgbClr val="FFFFFF"/>
                </a:solidFill>
              </a:rPr>
              <a:t>Data ANALYSIS</a:t>
            </a:r>
          </a:p>
        </p:txBody>
      </p:sp>
      <p:sp>
        <p:nvSpPr>
          <p:cNvPr id="9" name="TextBox 8">
            <a:extLst>
              <a:ext uri="{FF2B5EF4-FFF2-40B4-BE49-F238E27FC236}">
                <a16:creationId xmlns:a16="http://schemas.microsoft.com/office/drawing/2014/main" id="{E3C58DF4-87B5-4BC0-90DB-30EAAAFEF5FF}"/>
              </a:ext>
            </a:extLst>
          </p:cNvPr>
          <p:cNvSpPr txBox="1"/>
          <p:nvPr/>
        </p:nvSpPr>
        <p:spPr>
          <a:xfrm>
            <a:off x="5232805" y="180634"/>
            <a:ext cx="6796309" cy="6649193"/>
          </a:xfrm>
          <a:prstGeom prst="rect">
            <a:avLst/>
          </a:prstGeom>
          <a:solidFill>
            <a:schemeClr val="bg1"/>
          </a:solidFill>
        </p:spPr>
        <p:txBody>
          <a:bodyPr wrap="square">
            <a:spAutoFit/>
          </a:bodyPr>
          <a:lstStyle/>
          <a:p>
            <a:pPr marL="0" indent="0">
              <a:lnSpc>
                <a:spcPct val="90000"/>
              </a:lnSpc>
              <a:buNone/>
            </a:pPr>
            <a:r>
              <a:rPr lang="en-CA" sz="2400" dirty="0"/>
              <a:t>It is possible to get insights and understand how the prices are affected by the variables? Indeed by analysing the OLS model coefficients. </a:t>
            </a:r>
            <a:r>
              <a:rPr lang="en-CA" sz="2400" i="1" dirty="0"/>
              <a:t>The data explain the world.</a:t>
            </a:r>
          </a:p>
          <a:p>
            <a:pPr marL="285750" indent="-285750">
              <a:lnSpc>
                <a:spcPct val="120000"/>
              </a:lnSpc>
              <a:spcBef>
                <a:spcPts val="300"/>
              </a:spcBef>
              <a:buFont typeface="Arial" panose="020B0604020202020204" pitchFamily="34" charset="0"/>
              <a:buChar char="•"/>
            </a:pPr>
            <a:r>
              <a:rPr lang="en-US" dirty="0">
                <a:solidFill>
                  <a:srgbClr val="404040"/>
                </a:solidFill>
              </a:rPr>
              <a:t>Cars with manual transmission are more expensive than those with automatic (about 16%).</a:t>
            </a:r>
          </a:p>
          <a:p>
            <a:pPr marL="285750" indent="-285750">
              <a:lnSpc>
                <a:spcPct val="120000"/>
              </a:lnSpc>
              <a:spcBef>
                <a:spcPts val="300"/>
              </a:spcBef>
              <a:buFont typeface="Arial" panose="020B0604020202020204" pitchFamily="34" charset="0"/>
              <a:buChar char="•"/>
            </a:pPr>
            <a:r>
              <a:rPr lang="en-US" dirty="0">
                <a:solidFill>
                  <a:srgbClr val="404040"/>
                </a:solidFill>
              </a:rPr>
              <a:t>Fiat is the worst manufacturer for reselling.  A car with the same characteristics of a Ford is about 25% cheaper.</a:t>
            </a:r>
          </a:p>
          <a:p>
            <a:pPr marL="285750" indent="-285750">
              <a:lnSpc>
                <a:spcPct val="120000"/>
              </a:lnSpc>
              <a:spcBef>
                <a:spcPts val="300"/>
              </a:spcBef>
              <a:buFont typeface="Arial" panose="020B0604020202020204" pitchFamily="34" charset="0"/>
              <a:buChar char="•"/>
            </a:pPr>
            <a:r>
              <a:rPr lang="en-US" dirty="0">
                <a:solidFill>
                  <a:srgbClr val="404040"/>
                </a:solidFill>
              </a:rPr>
              <a:t>A car with “excellent” condition is approximately 23% more expensive than one with “good” condition, and a “salvage” car is worth less than half of a “good” one.</a:t>
            </a:r>
          </a:p>
          <a:p>
            <a:pPr marL="285750" indent="-285750">
              <a:lnSpc>
                <a:spcPct val="120000"/>
              </a:lnSpc>
              <a:spcBef>
                <a:spcPts val="300"/>
              </a:spcBef>
              <a:buFont typeface="Arial" panose="020B0604020202020204" pitchFamily="34" charset="0"/>
              <a:buChar char="•"/>
            </a:pPr>
            <a:r>
              <a:rPr lang="en-US" dirty="0">
                <a:solidFill>
                  <a:srgbClr val="404040"/>
                </a:solidFill>
              </a:rPr>
              <a:t>A car with 4 cylinders costs 18% less than one with 6, all else being equal.</a:t>
            </a:r>
          </a:p>
          <a:p>
            <a:pPr marL="285750" indent="-285750">
              <a:lnSpc>
                <a:spcPct val="120000"/>
              </a:lnSpc>
              <a:spcBef>
                <a:spcPts val="300"/>
              </a:spcBef>
              <a:buFont typeface="Arial" panose="020B0604020202020204" pitchFamily="34" charset="0"/>
              <a:buChar char="•"/>
            </a:pPr>
            <a:r>
              <a:rPr lang="en-US" dirty="0">
                <a:solidFill>
                  <a:srgbClr val="404040"/>
                </a:solidFill>
              </a:rPr>
              <a:t>In average, every 1% of increase on the odometer will reduce the price in 0.06%.</a:t>
            </a:r>
          </a:p>
          <a:p>
            <a:pPr marL="285750" indent="-285750">
              <a:lnSpc>
                <a:spcPct val="120000"/>
              </a:lnSpc>
              <a:spcBef>
                <a:spcPts val="300"/>
              </a:spcBef>
              <a:buFont typeface="Arial" panose="020B0604020202020204" pitchFamily="34" charset="0"/>
              <a:buChar char="•"/>
            </a:pPr>
            <a:r>
              <a:rPr lang="en-US" dirty="0">
                <a:solidFill>
                  <a:srgbClr val="404040"/>
                </a:solidFill>
              </a:rPr>
              <a:t>If the car gets 1 (one) year older, we’d expect the price to reduce by 11.12%</a:t>
            </a:r>
          </a:p>
          <a:p>
            <a:pPr marL="285750" indent="-285750">
              <a:lnSpc>
                <a:spcPct val="120000"/>
              </a:lnSpc>
              <a:spcBef>
                <a:spcPts val="300"/>
              </a:spcBef>
              <a:buFont typeface="Arial" panose="020B0604020202020204" pitchFamily="34" charset="0"/>
              <a:buChar char="•"/>
            </a:pPr>
            <a:r>
              <a:rPr lang="en-US" dirty="0">
                <a:solidFill>
                  <a:srgbClr val="404040"/>
                </a:solidFill>
              </a:rPr>
              <a:t>A “diesel” car costs about 56% more than a “gas” one, all else being equal</a:t>
            </a:r>
            <a:r>
              <a:rPr lang="en-CA" dirty="0">
                <a:solidFill>
                  <a:srgbClr val="404040"/>
                </a:solidFill>
              </a:rPr>
              <a:t>.</a:t>
            </a:r>
          </a:p>
        </p:txBody>
      </p:sp>
    </p:spTree>
    <p:extLst>
      <p:ext uri="{BB962C8B-B14F-4D97-AF65-F5344CB8AC3E}">
        <p14:creationId xmlns:p14="http://schemas.microsoft.com/office/powerpoint/2010/main" val="2344088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44347-6D27-42D6-9B7B-61A7D506E818}"/>
              </a:ext>
            </a:extLst>
          </p:cNvPr>
          <p:cNvSpPr>
            <a:spLocks noGrp="1"/>
          </p:cNvSpPr>
          <p:nvPr>
            <p:ph type="title"/>
          </p:nvPr>
        </p:nvSpPr>
        <p:spPr>
          <a:xfrm>
            <a:off x="163587" y="1444752"/>
            <a:ext cx="4379439" cy="3968496"/>
          </a:xfrm>
          <a:prstGeom prst="rect">
            <a:avLst/>
          </a:prstGeom>
          <a:solidFill>
            <a:schemeClr val="accent2"/>
          </a:solidFill>
          <a:ln w="190500" cap="sq" cmpd="thinThick">
            <a:solidFill>
              <a:schemeClr val="accent2"/>
            </a:solidFill>
            <a:miter lim="800000"/>
          </a:ln>
        </p:spPr>
        <p:txBody>
          <a:bodyPr wrap="square" anchor="ctr">
            <a:normAutofit/>
          </a:bodyPr>
          <a:lstStyle/>
          <a:p>
            <a:r>
              <a:rPr lang="en-CA" sz="3200" dirty="0">
                <a:solidFill>
                  <a:srgbClr val="FFFFFF"/>
                </a:solidFill>
              </a:rPr>
              <a:t>Data Modeling</a:t>
            </a:r>
          </a:p>
        </p:txBody>
      </p:sp>
      <p:sp>
        <p:nvSpPr>
          <p:cNvPr id="3" name="Content Placeholder 2">
            <a:extLst>
              <a:ext uri="{FF2B5EF4-FFF2-40B4-BE49-F238E27FC236}">
                <a16:creationId xmlns:a16="http://schemas.microsoft.com/office/drawing/2014/main" id="{35FE211B-8B1A-4060-9C41-B96C558C0070}"/>
              </a:ext>
            </a:extLst>
          </p:cNvPr>
          <p:cNvSpPr>
            <a:spLocks noGrp="1"/>
          </p:cNvSpPr>
          <p:nvPr>
            <p:ph idx="1"/>
          </p:nvPr>
        </p:nvSpPr>
        <p:spPr>
          <a:xfrm>
            <a:off x="4727521" y="224115"/>
            <a:ext cx="7380000" cy="4262521"/>
          </a:xfrm>
        </p:spPr>
        <p:txBody>
          <a:bodyPr anchor="ctr">
            <a:normAutofit fontScale="92500" lnSpcReduction="10000"/>
          </a:bodyPr>
          <a:lstStyle/>
          <a:p>
            <a:pPr marL="0" indent="0">
              <a:lnSpc>
                <a:spcPct val="110000"/>
              </a:lnSpc>
              <a:buNone/>
            </a:pPr>
            <a:r>
              <a:rPr lang="en-CA" sz="3000" dirty="0">
                <a:solidFill>
                  <a:schemeClr val="tx1">
                    <a:lumMod val="75000"/>
                    <a:lumOff val="25000"/>
                  </a:schemeClr>
                </a:solidFill>
              </a:rPr>
              <a:t>Model outcome for Ordinary Least Squares (OLS) applied to the </a:t>
            </a:r>
            <a:r>
              <a:rPr lang="en-CA" sz="3000" u="sng" dirty="0">
                <a:solidFill>
                  <a:schemeClr val="tx1">
                    <a:lumMod val="75000"/>
                    <a:lumOff val="25000"/>
                  </a:schemeClr>
                </a:solidFill>
              </a:rPr>
              <a:t>whole</a:t>
            </a:r>
            <a:r>
              <a:rPr lang="en-CA" sz="3000" dirty="0">
                <a:solidFill>
                  <a:schemeClr val="tx1">
                    <a:lumMod val="75000"/>
                    <a:lumOff val="25000"/>
                  </a:schemeClr>
                </a:solidFill>
              </a:rPr>
              <a:t> dataset after feature reduction and outlier's elimination</a:t>
            </a:r>
          </a:p>
          <a:p>
            <a:pPr marL="0" indent="0">
              <a:lnSpc>
                <a:spcPct val="90000"/>
              </a:lnSpc>
              <a:buNone/>
            </a:pPr>
            <a:endParaRPr lang="en-CA" sz="900" dirty="0">
              <a:solidFill>
                <a:schemeClr val="tx1">
                  <a:lumMod val="75000"/>
                  <a:lumOff val="25000"/>
                </a:schemeClr>
              </a:solidFill>
            </a:endParaRPr>
          </a:p>
          <a:p>
            <a:pPr marL="0" indent="0">
              <a:lnSpc>
                <a:spcPct val="90000"/>
              </a:lnSpc>
              <a:spcBef>
                <a:spcPts val="600"/>
              </a:spcBef>
              <a:buNone/>
            </a:pPr>
            <a:r>
              <a:rPr lang="en-CA" sz="1400" dirty="0">
                <a:solidFill>
                  <a:schemeClr val="tx1">
                    <a:lumMod val="75000"/>
                    <a:lumOff val="25000"/>
                  </a:schemeClr>
                </a:solidFill>
                <a:latin typeface="Courier New" panose="02070309020205020404" pitchFamily="49" charset="0"/>
                <a:cs typeface="Courier New" panose="02070309020205020404" pitchFamily="49" charset="0"/>
              </a:rPr>
              <a:t>Results: Ordinary least squares</a:t>
            </a:r>
          </a:p>
          <a:p>
            <a:pPr marL="0" indent="0">
              <a:lnSpc>
                <a:spcPct val="90000"/>
              </a:lnSpc>
              <a:spcBef>
                <a:spcPts val="600"/>
              </a:spcBef>
              <a:buNone/>
            </a:pPr>
            <a:r>
              <a:rPr lang="en-CA" sz="1400" dirty="0">
                <a:solidFill>
                  <a:schemeClr val="tx1">
                    <a:lumMod val="75000"/>
                    <a:lumOff val="25000"/>
                  </a:schemeClr>
                </a:solidFill>
                <a:latin typeface="Courier New" panose="02070309020205020404" pitchFamily="49" charset="0"/>
                <a:cs typeface="Courier New" panose="02070309020205020404" pitchFamily="49" charset="0"/>
              </a:rPr>
              <a:t>=========================================================================</a:t>
            </a:r>
          </a:p>
          <a:p>
            <a:pPr marL="0" indent="0">
              <a:lnSpc>
                <a:spcPct val="90000"/>
              </a:lnSpc>
              <a:spcBef>
                <a:spcPts val="600"/>
              </a:spcBef>
              <a:buNone/>
            </a:pPr>
            <a:r>
              <a:rPr lang="en-CA" sz="1400" dirty="0">
                <a:solidFill>
                  <a:schemeClr val="tx1">
                    <a:lumMod val="75000"/>
                    <a:lumOff val="25000"/>
                  </a:schemeClr>
                </a:solidFill>
                <a:latin typeface="Courier New" panose="02070309020205020404" pitchFamily="49" charset="0"/>
                <a:cs typeface="Courier New" panose="02070309020205020404" pitchFamily="49" charset="0"/>
              </a:rPr>
              <a:t>Dep. Variable:              </a:t>
            </a:r>
            <a:r>
              <a:rPr lang="en-CA" sz="1400" dirty="0" err="1">
                <a:solidFill>
                  <a:schemeClr val="tx1">
                    <a:lumMod val="75000"/>
                    <a:lumOff val="25000"/>
                  </a:schemeClr>
                </a:solidFill>
                <a:latin typeface="Courier New" panose="02070309020205020404" pitchFamily="49" charset="0"/>
                <a:cs typeface="Courier New" panose="02070309020205020404" pitchFamily="49" charset="0"/>
              </a:rPr>
              <a:t>price_log</a:t>
            </a:r>
            <a:r>
              <a:rPr lang="en-CA" sz="1400" dirty="0">
                <a:solidFill>
                  <a:schemeClr val="tx1">
                    <a:lumMod val="75000"/>
                    <a:lumOff val="25000"/>
                  </a:schemeClr>
                </a:solidFill>
                <a:latin typeface="Courier New" panose="02070309020205020404" pitchFamily="49" charset="0"/>
                <a:cs typeface="Courier New" panose="02070309020205020404" pitchFamily="49" charset="0"/>
              </a:rPr>
              <a:t>   </a:t>
            </a:r>
            <a:r>
              <a:rPr lang="en-CA" sz="1600" b="1" dirty="0">
                <a:solidFill>
                  <a:srgbClr val="FF0000"/>
                </a:solidFill>
                <a:latin typeface="Courier New" panose="02070309020205020404" pitchFamily="49" charset="0"/>
                <a:cs typeface="Courier New" panose="02070309020205020404" pitchFamily="49" charset="0"/>
              </a:rPr>
              <a:t>R-squared:             0.864</a:t>
            </a:r>
            <a:endParaRPr lang="en-CA" sz="1400" b="1" dirty="0">
              <a:solidFill>
                <a:srgbClr val="FF0000"/>
              </a:solidFill>
              <a:latin typeface="Courier New" panose="02070309020205020404" pitchFamily="49" charset="0"/>
              <a:cs typeface="Courier New" panose="02070309020205020404" pitchFamily="49" charset="0"/>
            </a:endParaRPr>
          </a:p>
          <a:p>
            <a:pPr marL="0" indent="0">
              <a:lnSpc>
                <a:spcPct val="90000"/>
              </a:lnSpc>
              <a:spcBef>
                <a:spcPts val="600"/>
              </a:spcBef>
              <a:buNone/>
            </a:pPr>
            <a:r>
              <a:rPr lang="en-CA" sz="1400" dirty="0">
                <a:solidFill>
                  <a:schemeClr val="tx1">
                    <a:lumMod val="75000"/>
                    <a:lumOff val="25000"/>
                  </a:schemeClr>
                </a:solidFill>
                <a:latin typeface="Courier New" panose="02070309020205020404" pitchFamily="49" charset="0"/>
                <a:cs typeface="Courier New" panose="02070309020205020404" pitchFamily="49" charset="0"/>
              </a:rPr>
              <a:t>Model:                            </a:t>
            </a:r>
            <a:r>
              <a:rPr lang="en-CA" sz="1400" b="1" dirty="0">
                <a:solidFill>
                  <a:schemeClr val="tx1">
                    <a:lumMod val="75000"/>
                    <a:lumOff val="25000"/>
                  </a:schemeClr>
                </a:solidFill>
                <a:latin typeface="Courier New" panose="02070309020205020404" pitchFamily="49" charset="0"/>
                <a:cs typeface="Courier New" panose="02070309020205020404" pitchFamily="49" charset="0"/>
              </a:rPr>
              <a:t>OLS</a:t>
            </a:r>
            <a:r>
              <a:rPr lang="en-CA" sz="1400" dirty="0">
                <a:solidFill>
                  <a:schemeClr val="tx1">
                    <a:lumMod val="75000"/>
                    <a:lumOff val="25000"/>
                  </a:schemeClr>
                </a:solidFill>
                <a:latin typeface="Courier New" panose="02070309020205020404" pitchFamily="49" charset="0"/>
                <a:cs typeface="Courier New" panose="02070309020205020404" pitchFamily="49" charset="0"/>
              </a:rPr>
              <a:t>   </a:t>
            </a:r>
            <a:r>
              <a:rPr lang="en-CA" sz="1600" dirty="0">
                <a:solidFill>
                  <a:schemeClr val="tx1">
                    <a:lumMod val="75000"/>
                    <a:lumOff val="25000"/>
                  </a:schemeClr>
                </a:solidFill>
                <a:latin typeface="Courier New" panose="02070309020205020404" pitchFamily="49" charset="0"/>
                <a:cs typeface="Courier New" panose="02070309020205020404" pitchFamily="49" charset="0"/>
              </a:rPr>
              <a:t>Adj. R-squared:        </a:t>
            </a:r>
            <a:r>
              <a:rPr lang="en-CA" sz="1600" b="1" dirty="0">
                <a:solidFill>
                  <a:schemeClr val="tx1">
                    <a:lumMod val="75000"/>
                    <a:lumOff val="25000"/>
                  </a:schemeClr>
                </a:solidFill>
                <a:latin typeface="Courier New" panose="02070309020205020404" pitchFamily="49" charset="0"/>
                <a:cs typeface="Courier New" panose="02070309020205020404" pitchFamily="49" charset="0"/>
              </a:rPr>
              <a:t>0.864</a:t>
            </a:r>
          </a:p>
          <a:p>
            <a:pPr marL="0" indent="0">
              <a:lnSpc>
                <a:spcPct val="90000"/>
              </a:lnSpc>
              <a:spcBef>
                <a:spcPts val="600"/>
              </a:spcBef>
              <a:buNone/>
            </a:pPr>
            <a:r>
              <a:rPr lang="en-CA" sz="1400" dirty="0">
                <a:solidFill>
                  <a:schemeClr val="tx1">
                    <a:lumMod val="75000"/>
                    <a:lumOff val="25000"/>
                  </a:schemeClr>
                </a:solidFill>
                <a:latin typeface="Courier New" panose="02070309020205020404" pitchFamily="49" charset="0"/>
                <a:cs typeface="Courier New" panose="02070309020205020404" pitchFamily="49" charset="0"/>
              </a:rPr>
              <a:t>Method:                 Least Squares   F-statistic:            4427.</a:t>
            </a:r>
          </a:p>
          <a:p>
            <a:pPr marL="0" indent="0">
              <a:lnSpc>
                <a:spcPct val="90000"/>
              </a:lnSpc>
              <a:spcBef>
                <a:spcPts val="600"/>
              </a:spcBef>
              <a:buNone/>
            </a:pPr>
            <a:r>
              <a:rPr lang="en-CA" sz="1400" dirty="0">
                <a:solidFill>
                  <a:schemeClr val="tx1">
                    <a:lumMod val="75000"/>
                    <a:lumOff val="25000"/>
                  </a:schemeClr>
                </a:solidFill>
                <a:latin typeface="Courier New" panose="02070309020205020404" pitchFamily="49" charset="0"/>
                <a:cs typeface="Courier New" panose="02070309020205020404" pitchFamily="49" charset="0"/>
              </a:rPr>
              <a:t>Date:                Thu, 05 Nov 2020   Prob (F-statistic):        </a:t>
            </a:r>
            <a:r>
              <a:rPr lang="en-CA" sz="1400" b="1" dirty="0">
                <a:solidFill>
                  <a:schemeClr val="tx1">
                    <a:lumMod val="75000"/>
                    <a:lumOff val="25000"/>
                  </a:schemeClr>
                </a:solidFill>
                <a:latin typeface="Courier New" panose="02070309020205020404" pitchFamily="49" charset="0"/>
                <a:cs typeface="Courier New" panose="02070309020205020404" pitchFamily="49" charset="0"/>
              </a:rPr>
              <a:t>0.00</a:t>
            </a:r>
          </a:p>
          <a:p>
            <a:pPr marL="0" indent="0">
              <a:lnSpc>
                <a:spcPct val="90000"/>
              </a:lnSpc>
              <a:spcBef>
                <a:spcPts val="600"/>
              </a:spcBef>
              <a:buNone/>
            </a:pPr>
            <a:r>
              <a:rPr lang="en-CA" sz="1400" dirty="0">
                <a:solidFill>
                  <a:schemeClr val="tx1">
                    <a:lumMod val="75000"/>
                    <a:lumOff val="25000"/>
                  </a:schemeClr>
                </a:solidFill>
                <a:latin typeface="Courier New" panose="02070309020205020404" pitchFamily="49" charset="0"/>
                <a:cs typeface="Courier New" panose="02070309020205020404" pitchFamily="49" charset="0"/>
              </a:rPr>
              <a:t>Time:                        14:32:04   Log-Likelihood:         -658.41</a:t>
            </a:r>
          </a:p>
          <a:p>
            <a:pPr marL="0" indent="0">
              <a:lnSpc>
                <a:spcPct val="90000"/>
              </a:lnSpc>
              <a:spcBef>
                <a:spcPts val="600"/>
              </a:spcBef>
              <a:buNone/>
            </a:pPr>
            <a:r>
              <a:rPr lang="en-CA" sz="1400" dirty="0">
                <a:solidFill>
                  <a:schemeClr val="tx1">
                    <a:lumMod val="75000"/>
                    <a:lumOff val="25000"/>
                  </a:schemeClr>
                </a:solidFill>
                <a:latin typeface="Courier New" panose="02070309020205020404" pitchFamily="49" charset="0"/>
                <a:cs typeface="Courier New" panose="02070309020205020404" pitchFamily="49" charset="0"/>
              </a:rPr>
              <a:t>No. Observations:               38920   AIC:                    1431.</a:t>
            </a:r>
          </a:p>
          <a:p>
            <a:pPr marL="0" indent="0">
              <a:lnSpc>
                <a:spcPct val="90000"/>
              </a:lnSpc>
              <a:spcBef>
                <a:spcPts val="600"/>
              </a:spcBef>
              <a:buNone/>
            </a:pPr>
            <a:r>
              <a:rPr lang="en-CA" sz="1400" dirty="0">
                <a:solidFill>
                  <a:schemeClr val="tx1">
                    <a:lumMod val="75000"/>
                    <a:lumOff val="25000"/>
                  </a:schemeClr>
                </a:solidFill>
                <a:latin typeface="Courier New" panose="02070309020205020404" pitchFamily="49" charset="0"/>
                <a:cs typeface="Courier New" panose="02070309020205020404" pitchFamily="49" charset="0"/>
              </a:rPr>
              <a:t>Df Residuals:                   38863   BIC:                    1919.</a:t>
            </a:r>
          </a:p>
          <a:p>
            <a:pPr marL="0" indent="0">
              <a:lnSpc>
                <a:spcPct val="90000"/>
              </a:lnSpc>
              <a:spcBef>
                <a:spcPts val="600"/>
              </a:spcBef>
              <a:buNone/>
            </a:pPr>
            <a:r>
              <a:rPr lang="en-CA" sz="1400" dirty="0">
                <a:solidFill>
                  <a:schemeClr val="tx1">
                    <a:lumMod val="75000"/>
                    <a:lumOff val="25000"/>
                  </a:schemeClr>
                </a:solidFill>
                <a:latin typeface="Courier New" panose="02070309020205020404" pitchFamily="49" charset="0"/>
                <a:cs typeface="Courier New" panose="02070309020205020404" pitchFamily="49" charset="0"/>
              </a:rPr>
              <a:t>Df Model:                          56                                         </a:t>
            </a:r>
          </a:p>
          <a:p>
            <a:pPr marL="0" indent="0">
              <a:lnSpc>
                <a:spcPct val="90000"/>
              </a:lnSpc>
              <a:spcBef>
                <a:spcPts val="600"/>
              </a:spcBef>
              <a:buNone/>
            </a:pPr>
            <a:r>
              <a:rPr lang="en-CA" sz="1400" dirty="0">
                <a:solidFill>
                  <a:schemeClr val="tx1">
                    <a:lumMod val="75000"/>
                    <a:lumOff val="25000"/>
                  </a:schemeClr>
                </a:solidFill>
                <a:latin typeface="Courier New" panose="02070309020205020404" pitchFamily="49" charset="0"/>
                <a:cs typeface="Courier New" panose="02070309020205020404" pitchFamily="49" charset="0"/>
              </a:rPr>
              <a:t>Covariance Type:            </a:t>
            </a:r>
            <a:r>
              <a:rPr lang="en-CA" sz="1400" dirty="0" err="1">
                <a:solidFill>
                  <a:schemeClr val="tx1">
                    <a:lumMod val="75000"/>
                    <a:lumOff val="25000"/>
                  </a:schemeClr>
                </a:solidFill>
                <a:latin typeface="Courier New" panose="02070309020205020404" pitchFamily="49" charset="0"/>
                <a:cs typeface="Courier New" panose="02070309020205020404" pitchFamily="49" charset="0"/>
              </a:rPr>
              <a:t>nonrobust</a:t>
            </a:r>
            <a:r>
              <a:rPr lang="en-CA" sz="1400" dirty="0">
                <a:solidFill>
                  <a:schemeClr val="tx1">
                    <a:lumMod val="75000"/>
                    <a:lumOff val="25000"/>
                  </a:schemeClr>
                </a:solidFill>
                <a:latin typeface="Courier New" panose="02070309020205020404" pitchFamily="49" charset="0"/>
                <a:cs typeface="Courier New" panose="02070309020205020404" pitchFamily="49" charset="0"/>
              </a:rPr>
              <a:t>  </a:t>
            </a:r>
            <a:endParaRPr lang="en-CA" sz="1200" dirty="0">
              <a:solidFill>
                <a:schemeClr val="tx1">
                  <a:lumMod val="75000"/>
                  <a:lumOff val="25000"/>
                </a:schemeClr>
              </a:solidFill>
              <a:latin typeface="Courier New" panose="02070309020205020404" pitchFamily="49" charset="0"/>
              <a:cs typeface="Courier New" panose="02070309020205020404" pitchFamily="49" charset="0"/>
            </a:endParaRPr>
          </a:p>
        </p:txBody>
      </p:sp>
      <p:sp>
        <p:nvSpPr>
          <p:cNvPr id="4" name="Content Placeholder 2">
            <a:extLst>
              <a:ext uri="{FF2B5EF4-FFF2-40B4-BE49-F238E27FC236}">
                <a16:creationId xmlns:a16="http://schemas.microsoft.com/office/drawing/2014/main" id="{6B96C903-4B20-4E98-A08A-6169AFF2999D}"/>
              </a:ext>
            </a:extLst>
          </p:cNvPr>
          <p:cNvSpPr txBox="1">
            <a:spLocks/>
          </p:cNvSpPr>
          <p:nvPr/>
        </p:nvSpPr>
        <p:spPr>
          <a:xfrm>
            <a:off x="4781311" y="4531462"/>
            <a:ext cx="7300891" cy="2120352"/>
          </a:xfrm>
          <a:prstGeom prst="rect">
            <a:avLst/>
          </a:prstGeom>
        </p:spPr>
        <p:txBody>
          <a:bodyPr vert="horz" lIns="91440" tIns="45720" rIns="91440" bIns="45720" rtlCol="0" anchor="ctr">
            <a:normAutofit fontScale="92500" lnSpcReduction="10000"/>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a:buFontTx/>
              <a:buChar char="-"/>
            </a:pPr>
            <a:r>
              <a:rPr lang="en-CA" sz="2400" i="1" dirty="0"/>
              <a:t>Eliminated 8 explanatory variables which were not statically significant (p-value &gt; alpha 0.05)</a:t>
            </a:r>
          </a:p>
          <a:p>
            <a:pPr>
              <a:buFontTx/>
              <a:buChar char="-"/>
            </a:pPr>
            <a:r>
              <a:rPr lang="en-CA" sz="2400" i="1" dirty="0"/>
              <a:t>Outliers - eliminate 15% of most distant influencers using Cooks Distance method </a:t>
            </a:r>
          </a:p>
          <a:p>
            <a:pPr marL="0" indent="0">
              <a:buNone/>
            </a:pPr>
            <a:r>
              <a:rPr lang="en-CA" sz="2400" i="1" dirty="0"/>
              <a:t>* </a:t>
            </a:r>
            <a:r>
              <a:rPr lang="en-CA" sz="1900" i="1" dirty="0"/>
              <a:t>In statistics, Cook's distance is used to estimate of the influence of a data point when performing a least-squares regression analysis.</a:t>
            </a:r>
            <a:endParaRPr lang="en-CA" sz="2400" i="1" dirty="0"/>
          </a:p>
        </p:txBody>
      </p:sp>
    </p:spTree>
    <p:extLst>
      <p:ext uri="{BB962C8B-B14F-4D97-AF65-F5344CB8AC3E}">
        <p14:creationId xmlns:p14="http://schemas.microsoft.com/office/powerpoint/2010/main" val="238812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C44347-6D27-42D6-9B7B-61A7D506E818}"/>
              </a:ext>
            </a:extLst>
          </p:cNvPr>
          <p:cNvSpPr>
            <a:spLocks noGrp="1"/>
          </p:cNvSpPr>
          <p:nvPr>
            <p:ph type="title"/>
          </p:nvPr>
        </p:nvSpPr>
        <p:spPr>
          <a:xfrm>
            <a:off x="643467" y="643467"/>
            <a:ext cx="3363974" cy="1728044"/>
          </a:xfrm>
          <a:noFill/>
          <a:ln>
            <a:solidFill>
              <a:schemeClr val="bg1"/>
            </a:solidFill>
          </a:ln>
        </p:spPr>
        <p:txBody>
          <a:bodyPr wrap="square">
            <a:normAutofit/>
          </a:bodyPr>
          <a:lstStyle/>
          <a:p>
            <a:r>
              <a:rPr lang="pt-BR" dirty="0">
                <a:solidFill>
                  <a:schemeClr val="bg1"/>
                </a:solidFill>
              </a:rPr>
              <a:t>Data model</a:t>
            </a:r>
            <a:br>
              <a:rPr lang="pt-BR" dirty="0">
                <a:solidFill>
                  <a:schemeClr val="bg1"/>
                </a:solidFill>
              </a:rPr>
            </a:br>
            <a:r>
              <a:rPr lang="pt-BR" dirty="0">
                <a:solidFill>
                  <a:schemeClr val="bg1"/>
                </a:solidFill>
              </a:rPr>
              <a:t>T</a:t>
            </a:r>
            <a:r>
              <a:rPr lang="en-CA" dirty="0">
                <a:solidFill>
                  <a:schemeClr val="bg1"/>
                </a:solidFill>
              </a:rPr>
              <a:t>RAINING</a:t>
            </a:r>
          </a:p>
        </p:txBody>
      </p:sp>
      <p:sp>
        <p:nvSpPr>
          <p:cNvPr id="3" name="Content Placeholder 2">
            <a:extLst>
              <a:ext uri="{FF2B5EF4-FFF2-40B4-BE49-F238E27FC236}">
                <a16:creationId xmlns:a16="http://schemas.microsoft.com/office/drawing/2014/main" id="{35FE211B-8B1A-4060-9C41-B96C558C0070}"/>
              </a:ext>
            </a:extLst>
          </p:cNvPr>
          <p:cNvSpPr>
            <a:spLocks noGrp="1"/>
          </p:cNvSpPr>
          <p:nvPr>
            <p:ph idx="1"/>
          </p:nvPr>
        </p:nvSpPr>
        <p:spPr>
          <a:xfrm>
            <a:off x="643468" y="2638044"/>
            <a:ext cx="3363974" cy="3415622"/>
          </a:xfrm>
        </p:spPr>
        <p:txBody>
          <a:bodyPr>
            <a:normAutofit/>
          </a:bodyPr>
          <a:lstStyle/>
          <a:p>
            <a:pPr marL="0" indent="0">
              <a:buNone/>
            </a:pPr>
            <a:r>
              <a:rPr lang="en-CA" sz="2800" dirty="0">
                <a:solidFill>
                  <a:schemeClr val="bg1"/>
                </a:solidFill>
              </a:rPr>
              <a:t>Split the dataset: </a:t>
            </a:r>
          </a:p>
          <a:p>
            <a:pPr marL="0" indent="0">
              <a:buNone/>
            </a:pPr>
            <a:endParaRPr lang="en-CA" sz="2800" dirty="0">
              <a:solidFill>
                <a:schemeClr val="bg1"/>
              </a:solidFill>
            </a:endParaRPr>
          </a:p>
          <a:p>
            <a:pPr marL="0" indent="0">
              <a:buNone/>
            </a:pPr>
            <a:r>
              <a:rPr lang="en-CA" sz="2800" dirty="0">
                <a:solidFill>
                  <a:schemeClr val="bg1"/>
                </a:solidFill>
              </a:rPr>
              <a:t>60% for training </a:t>
            </a:r>
          </a:p>
          <a:p>
            <a:pPr marL="0" indent="0">
              <a:buNone/>
            </a:pPr>
            <a:r>
              <a:rPr lang="en-CA" sz="2800" dirty="0">
                <a:solidFill>
                  <a:schemeClr val="bg1"/>
                </a:solidFill>
              </a:rPr>
              <a:t>40% for testing</a:t>
            </a:r>
          </a:p>
          <a:p>
            <a:pPr marL="0" indent="0">
              <a:buNone/>
            </a:pPr>
            <a:endParaRPr lang="en-CA" dirty="0">
              <a:solidFill>
                <a:schemeClr val="bg1"/>
              </a:solidFill>
            </a:endParaRPr>
          </a:p>
          <a:p>
            <a:pPr marL="0" indent="0">
              <a:buNone/>
            </a:pPr>
            <a:endParaRPr lang="en-CA" dirty="0">
              <a:solidFill>
                <a:schemeClr val="bg1"/>
              </a:solidFill>
            </a:endParaRPr>
          </a:p>
          <a:p>
            <a:pPr marL="0" indent="0">
              <a:buNone/>
            </a:pPr>
            <a:endParaRPr lang="en-CA" dirty="0">
              <a:solidFill>
                <a:schemeClr val="bg1"/>
              </a:solidFill>
            </a:endParaRPr>
          </a:p>
        </p:txBody>
      </p:sp>
      <p:graphicFrame>
        <p:nvGraphicFramePr>
          <p:cNvPr id="7" name="Table 7">
            <a:extLst>
              <a:ext uri="{FF2B5EF4-FFF2-40B4-BE49-F238E27FC236}">
                <a16:creationId xmlns:a16="http://schemas.microsoft.com/office/drawing/2014/main" id="{8471F853-94D6-42C6-B2D9-87C5F6EAD946}"/>
              </a:ext>
            </a:extLst>
          </p:cNvPr>
          <p:cNvGraphicFramePr>
            <a:graphicFrameLocks noGrp="1"/>
          </p:cNvGraphicFramePr>
          <p:nvPr>
            <p:extLst>
              <p:ext uri="{D42A27DB-BD31-4B8C-83A1-F6EECF244321}">
                <p14:modId xmlns:p14="http://schemas.microsoft.com/office/powerpoint/2010/main" val="3279173608"/>
              </p:ext>
            </p:extLst>
          </p:nvPr>
        </p:nvGraphicFramePr>
        <p:xfrm>
          <a:off x="5297763" y="1743311"/>
          <a:ext cx="6250770" cy="3210515"/>
        </p:xfrm>
        <a:graphic>
          <a:graphicData uri="http://schemas.openxmlformats.org/drawingml/2006/table">
            <a:tbl>
              <a:tblPr firstRow="1" bandRow="1">
                <a:tableStyleId>{3B4B98B0-60AC-42C2-AFA5-B58CD77FA1E5}</a:tableStyleId>
              </a:tblPr>
              <a:tblGrid>
                <a:gridCol w="2286274">
                  <a:extLst>
                    <a:ext uri="{9D8B030D-6E8A-4147-A177-3AD203B41FA5}">
                      <a16:colId xmlns:a16="http://schemas.microsoft.com/office/drawing/2014/main" val="4159885732"/>
                    </a:ext>
                  </a:extLst>
                </a:gridCol>
                <a:gridCol w="1718759">
                  <a:extLst>
                    <a:ext uri="{9D8B030D-6E8A-4147-A177-3AD203B41FA5}">
                      <a16:colId xmlns:a16="http://schemas.microsoft.com/office/drawing/2014/main" val="1324733326"/>
                    </a:ext>
                  </a:extLst>
                </a:gridCol>
                <a:gridCol w="2245737">
                  <a:extLst>
                    <a:ext uri="{9D8B030D-6E8A-4147-A177-3AD203B41FA5}">
                      <a16:colId xmlns:a16="http://schemas.microsoft.com/office/drawing/2014/main" val="376416873"/>
                    </a:ext>
                  </a:extLst>
                </a:gridCol>
              </a:tblGrid>
              <a:tr h="642103">
                <a:tc>
                  <a:txBody>
                    <a:bodyPr/>
                    <a:lstStyle/>
                    <a:p>
                      <a:pPr algn="ctr"/>
                      <a:r>
                        <a:rPr lang="en-CA" sz="2400" dirty="0"/>
                        <a:t>Data Set</a:t>
                      </a:r>
                    </a:p>
                  </a:txBody>
                  <a:tcPr marL="145932" marR="145932" marT="72966" marB="72966"/>
                </a:tc>
                <a:tc>
                  <a:txBody>
                    <a:bodyPr/>
                    <a:lstStyle/>
                    <a:p>
                      <a:pPr algn="ctr"/>
                      <a:r>
                        <a:rPr lang="en-CA" sz="2400"/>
                        <a:t># Rows</a:t>
                      </a:r>
                    </a:p>
                  </a:txBody>
                  <a:tcPr marL="145932" marR="145932" marT="72966" marB="72966"/>
                </a:tc>
                <a:tc>
                  <a:txBody>
                    <a:bodyPr/>
                    <a:lstStyle/>
                    <a:p>
                      <a:pPr algn="ctr"/>
                      <a:r>
                        <a:rPr lang="en-CA" sz="2400"/>
                        <a:t># Columns</a:t>
                      </a:r>
                    </a:p>
                  </a:txBody>
                  <a:tcPr marL="145932" marR="145932" marT="72966" marB="72966"/>
                </a:tc>
                <a:extLst>
                  <a:ext uri="{0D108BD9-81ED-4DB2-BD59-A6C34878D82A}">
                    <a16:rowId xmlns:a16="http://schemas.microsoft.com/office/drawing/2014/main" val="3408063557"/>
                  </a:ext>
                </a:extLst>
              </a:tr>
              <a:tr h="642103">
                <a:tc>
                  <a:txBody>
                    <a:bodyPr/>
                    <a:lstStyle/>
                    <a:p>
                      <a:pPr algn="ctr"/>
                      <a:r>
                        <a:rPr lang="en-CA" sz="2400" dirty="0"/>
                        <a:t>X (training)</a:t>
                      </a:r>
                    </a:p>
                  </a:txBody>
                  <a:tcPr marL="145932" marR="145932" marT="72966" marB="72966"/>
                </a:tc>
                <a:tc>
                  <a:txBody>
                    <a:bodyPr/>
                    <a:lstStyle/>
                    <a:p>
                      <a:pPr algn="ctr"/>
                      <a:r>
                        <a:rPr lang="en-CA" sz="2400" dirty="0"/>
                        <a:t>27,473</a:t>
                      </a:r>
                    </a:p>
                  </a:txBody>
                  <a:tcPr marL="145932" marR="145932" marT="72966" marB="72966"/>
                </a:tc>
                <a:tc>
                  <a:txBody>
                    <a:bodyPr/>
                    <a:lstStyle/>
                    <a:p>
                      <a:pPr algn="ctr"/>
                      <a:r>
                        <a:rPr lang="en-CA" sz="2400"/>
                        <a:t>67</a:t>
                      </a:r>
                    </a:p>
                  </a:txBody>
                  <a:tcPr marL="145932" marR="145932" marT="72966" marB="72966"/>
                </a:tc>
                <a:extLst>
                  <a:ext uri="{0D108BD9-81ED-4DB2-BD59-A6C34878D82A}">
                    <a16:rowId xmlns:a16="http://schemas.microsoft.com/office/drawing/2014/main" val="390405218"/>
                  </a:ext>
                </a:extLst>
              </a:tr>
              <a:tr h="642103">
                <a:tc>
                  <a:txBody>
                    <a:bodyPr/>
                    <a:lstStyle/>
                    <a:p>
                      <a:pPr algn="ctr"/>
                      <a:r>
                        <a:rPr lang="en-CA" sz="2400" dirty="0"/>
                        <a:t>Y (training)</a:t>
                      </a:r>
                    </a:p>
                  </a:txBody>
                  <a:tcPr marL="145932" marR="145932" marT="72966" marB="72966"/>
                </a:tc>
                <a:tc>
                  <a:txBody>
                    <a:bodyPr/>
                    <a:lstStyle/>
                    <a:p>
                      <a:pPr algn="ctr"/>
                      <a:r>
                        <a:rPr lang="en-CA" sz="2400" dirty="0"/>
                        <a:t>27,473</a:t>
                      </a:r>
                    </a:p>
                  </a:txBody>
                  <a:tcPr marL="145932" marR="145932" marT="72966" marB="72966"/>
                </a:tc>
                <a:tc>
                  <a:txBody>
                    <a:bodyPr/>
                    <a:lstStyle/>
                    <a:p>
                      <a:pPr algn="ctr"/>
                      <a:r>
                        <a:rPr lang="en-CA" sz="2400"/>
                        <a:t>1</a:t>
                      </a:r>
                    </a:p>
                  </a:txBody>
                  <a:tcPr marL="145932" marR="145932" marT="72966" marB="72966"/>
                </a:tc>
                <a:extLst>
                  <a:ext uri="{0D108BD9-81ED-4DB2-BD59-A6C34878D82A}">
                    <a16:rowId xmlns:a16="http://schemas.microsoft.com/office/drawing/2014/main" val="3648678026"/>
                  </a:ext>
                </a:extLst>
              </a:tr>
              <a:tr h="642103">
                <a:tc>
                  <a:txBody>
                    <a:bodyPr/>
                    <a:lstStyle/>
                    <a:p>
                      <a:pPr algn="ctr"/>
                      <a:r>
                        <a:rPr lang="en-CA" sz="2400"/>
                        <a:t>X (testing)</a:t>
                      </a:r>
                    </a:p>
                  </a:txBody>
                  <a:tcPr marL="145932" marR="145932" marT="72966" marB="72966"/>
                </a:tc>
                <a:tc>
                  <a:txBody>
                    <a:bodyPr/>
                    <a:lstStyle/>
                    <a:p>
                      <a:pPr algn="ctr"/>
                      <a:r>
                        <a:rPr lang="en-CA" sz="2400" dirty="0"/>
                        <a:t>18,316</a:t>
                      </a:r>
                    </a:p>
                  </a:txBody>
                  <a:tcPr marL="145932" marR="145932" marT="72966" marB="72966"/>
                </a:tc>
                <a:tc>
                  <a:txBody>
                    <a:bodyPr/>
                    <a:lstStyle/>
                    <a:p>
                      <a:pPr algn="ctr"/>
                      <a:r>
                        <a:rPr lang="en-CA" sz="2400" dirty="0"/>
                        <a:t>67</a:t>
                      </a:r>
                    </a:p>
                  </a:txBody>
                  <a:tcPr marL="145932" marR="145932" marT="72966" marB="72966"/>
                </a:tc>
                <a:extLst>
                  <a:ext uri="{0D108BD9-81ED-4DB2-BD59-A6C34878D82A}">
                    <a16:rowId xmlns:a16="http://schemas.microsoft.com/office/drawing/2014/main" val="3968901197"/>
                  </a:ext>
                </a:extLst>
              </a:tr>
              <a:tr h="642103">
                <a:tc>
                  <a:txBody>
                    <a:bodyPr/>
                    <a:lstStyle/>
                    <a:p>
                      <a:pPr algn="ctr"/>
                      <a:r>
                        <a:rPr lang="en-CA" sz="2400"/>
                        <a:t>Y (testing)</a:t>
                      </a:r>
                    </a:p>
                  </a:txBody>
                  <a:tcPr marL="145932" marR="145932" marT="72966" marB="72966"/>
                </a:tc>
                <a:tc>
                  <a:txBody>
                    <a:bodyPr/>
                    <a:lstStyle/>
                    <a:p>
                      <a:pPr algn="ctr"/>
                      <a:r>
                        <a:rPr lang="en-CA" sz="2400"/>
                        <a:t>18,316</a:t>
                      </a:r>
                    </a:p>
                  </a:txBody>
                  <a:tcPr marL="145932" marR="145932" marT="72966" marB="72966"/>
                </a:tc>
                <a:tc>
                  <a:txBody>
                    <a:bodyPr/>
                    <a:lstStyle/>
                    <a:p>
                      <a:pPr algn="ctr"/>
                      <a:r>
                        <a:rPr lang="en-CA" sz="2400" dirty="0"/>
                        <a:t>1</a:t>
                      </a:r>
                    </a:p>
                  </a:txBody>
                  <a:tcPr marL="145932" marR="145932" marT="72966" marB="72966"/>
                </a:tc>
                <a:extLst>
                  <a:ext uri="{0D108BD9-81ED-4DB2-BD59-A6C34878D82A}">
                    <a16:rowId xmlns:a16="http://schemas.microsoft.com/office/drawing/2014/main" val="3625973362"/>
                  </a:ext>
                </a:extLst>
              </a:tr>
            </a:tbl>
          </a:graphicData>
        </a:graphic>
      </p:graphicFrame>
    </p:spTree>
    <p:extLst>
      <p:ext uri="{BB962C8B-B14F-4D97-AF65-F5344CB8AC3E}">
        <p14:creationId xmlns:p14="http://schemas.microsoft.com/office/powerpoint/2010/main" val="18311614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44347-6D27-42D6-9B7B-61A7D506E818}"/>
              </a:ext>
            </a:extLst>
          </p:cNvPr>
          <p:cNvSpPr>
            <a:spLocks noGrp="1"/>
          </p:cNvSpPr>
          <p:nvPr>
            <p:ph type="title"/>
          </p:nvPr>
        </p:nvSpPr>
        <p:spPr>
          <a:xfrm>
            <a:off x="7697185" y="1586484"/>
            <a:ext cx="3685032" cy="3685032"/>
          </a:xfrm>
          <a:prstGeom prst="ellipse">
            <a:avLst/>
          </a:prstGeom>
          <a:solidFill>
            <a:schemeClr val="accent2">
              <a:lumMod val="75000"/>
            </a:schemeClr>
          </a:solidFill>
          <a:ln>
            <a:noFill/>
          </a:ln>
        </p:spPr>
        <p:txBody>
          <a:bodyPr>
            <a:normAutofit/>
          </a:bodyPr>
          <a:lstStyle/>
          <a:p>
            <a:r>
              <a:rPr lang="en-CA" sz="3000" dirty="0">
                <a:solidFill>
                  <a:srgbClr val="FFFFFF"/>
                </a:solidFill>
              </a:rPr>
              <a:t>Data model training</a:t>
            </a:r>
          </a:p>
        </p:txBody>
      </p:sp>
      <p:sp>
        <p:nvSpPr>
          <p:cNvPr id="3" name="Content Placeholder 2">
            <a:extLst>
              <a:ext uri="{FF2B5EF4-FFF2-40B4-BE49-F238E27FC236}">
                <a16:creationId xmlns:a16="http://schemas.microsoft.com/office/drawing/2014/main" id="{35FE211B-8B1A-4060-9C41-B96C558C0070}"/>
              </a:ext>
            </a:extLst>
          </p:cNvPr>
          <p:cNvSpPr>
            <a:spLocks noGrp="1"/>
          </p:cNvSpPr>
          <p:nvPr>
            <p:ph idx="1"/>
          </p:nvPr>
        </p:nvSpPr>
        <p:spPr>
          <a:xfrm>
            <a:off x="256375" y="1402080"/>
            <a:ext cx="7255378" cy="3597210"/>
          </a:xfrm>
        </p:spPr>
        <p:txBody>
          <a:bodyPr anchor="ctr">
            <a:normAutofit/>
          </a:bodyPr>
          <a:lstStyle/>
          <a:p>
            <a:r>
              <a:rPr lang="en-CA" sz="2400" dirty="0"/>
              <a:t>Linear Regression (traditional)</a:t>
            </a:r>
          </a:p>
          <a:p>
            <a:endParaRPr lang="en-CA" sz="1500" dirty="0"/>
          </a:p>
          <a:p>
            <a:r>
              <a:rPr lang="en-CA" sz="2400" dirty="0"/>
              <a:t>Ridge Regression: linear regression with a penalty term equal to the square of the coefficient.</a:t>
            </a:r>
          </a:p>
          <a:p>
            <a:pPr marL="0" indent="0">
              <a:buNone/>
            </a:pPr>
            <a:endParaRPr lang="en-CA" sz="1500" dirty="0"/>
          </a:p>
          <a:p>
            <a:endParaRPr lang="en-CA" sz="2400" dirty="0"/>
          </a:p>
          <a:p>
            <a:r>
              <a:rPr lang="en-CA" sz="2400" dirty="0"/>
              <a:t>Lasso Regression: linear regression with a penalty term to the cost function (absolute sum of the coefficients)</a:t>
            </a:r>
          </a:p>
        </p:txBody>
      </p:sp>
      <p:pic>
        <p:nvPicPr>
          <p:cNvPr id="4" name="Picture 3">
            <a:extLst>
              <a:ext uri="{FF2B5EF4-FFF2-40B4-BE49-F238E27FC236}">
                <a16:creationId xmlns:a16="http://schemas.microsoft.com/office/drawing/2014/main" id="{BF2F2ED7-D73E-435E-A0E9-07C62F5E3A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1479" y="3200685"/>
            <a:ext cx="5125165" cy="600159"/>
          </a:xfrm>
          <a:prstGeom prst="rect">
            <a:avLst/>
          </a:prstGeom>
        </p:spPr>
      </p:pic>
      <p:pic>
        <p:nvPicPr>
          <p:cNvPr id="5" name="Picture 4">
            <a:extLst>
              <a:ext uri="{FF2B5EF4-FFF2-40B4-BE49-F238E27FC236}">
                <a16:creationId xmlns:a16="http://schemas.microsoft.com/office/drawing/2014/main" id="{774DC065-2689-4877-B1AF-BF2ADFA6AA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8638" y="4883101"/>
            <a:ext cx="5010849" cy="571580"/>
          </a:xfrm>
          <a:prstGeom prst="rect">
            <a:avLst/>
          </a:prstGeom>
        </p:spPr>
      </p:pic>
    </p:spTree>
    <p:extLst>
      <p:ext uri="{BB962C8B-B14F-4D97-AF65-F5344CB8AC3E}">
        <p14:creationId xmlns:p14="http://schemas.microsoft.com/office/powerpoint/2010/main" val="25232272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C44347-6D27-42D6-9B7B-61A7D506E818}"/>
              </a:ext>
            </a:extLst>
          </p:cNvPr>
          <p:cNvSpPr>
            <a:spLocks noGrp="1"/>
          </p:cNvSpPr>
          <p:nvPr>
            <p:ph type="title"/>
          </p:nvPr>
        </p:nvSpPr>
        <p:spPr>
          <a:xfrm>
            <a:off x="643467" y="643467"/>
            <a:ext cx="3363974" cy="1728044"/>
          </a:xfrm>
          <a:noFill/>
          <a:ln>
            <a:solidFill>
              <a:schemeClr val="bg1"/>
            </a:solidFill>
          </a:ln>
        </p:spPr>
        <p:txBody>
          <a:bodyPr wrap="square">
            <a:normAutofit/>
          </a:bodyPr>
          <a:lstStyle/>
          <a:p>
            <a:r>
              <a:rPr lang="en-CA">
                <a:solidFill>
                  <a:schemeClr val="bg1"/>
                </a:solidFill>
              </a:rPr>
              <a:t>Data Modeling</a:t>
            </a:r>
          </a:p>
        </p:txBody>
      </p:sp>
      <p:sp>
        <p:nvSpPr>
          <p:cNvPr id="3" name="Content Placeholder 2">
            <a:extLst>
              <a:ext uri="{FF2B5EF4-FFF2-40B4-BE49-F238E27FC236}">
                <a16:creationId xmlns:a16="http://schemas.microsoft.com/office/drawing/2014/main" id="{35FE211B-8B1A-4060-9C41-B96C558C0070}"/>
              </a:ext>
            </a:extLst>
          </p:cNvPr>
          <p:cNvSpPr>
            <a:spLocks noGrp="1"/>
          </p:cNvSpPr>
          <p:nvPr>
            <p:ph idx="1"/>
          </p:nvPr>
        </p:nvSpPr>
        <p:spPr>
          <a:xfrm>
            <a:off x="643468" y="2638044"/>
            <a:ext cx="3363974" cy="3415622"/>
          </a:xfrm>
        </p:spPr>
        <p:txBody>
          <a:bodyPr>
            <a:normAutofit/>
          </a:bodyPr>
          <a:lstStyle/>
          <a:p>
            <a:pPr marL="0" indent="0">
              <a:buNone/>
            </a:pPr>
            <a:r>
              <a:rPr lang="en-CA" sz="2400" dirty="0">
                <a:solidFill>
                  <a:schemeClr val="bg1"/>
                </a:solidFill>
              </a:rPr>
              <a:t>Ridge </a:t>
            </a:r>
          </a:p>
          <a:p>
            <a:pPr marL="0" indent="0">
              <a:buNone/>
            </a:pPr>
            <a:r>
              <a:rPr lang="en-CA" sz="2400" dirty="0">
                <a:solidFill>
                  <a:schemeClr val="bg1"/>
                </a:solidFill>
              </a:rPr>
              <a:t>vs </a:t>
            </a:r>
          </a:p>
          <a:p>
            <a:pPr marL="0" indent="0">
              <a:buNone/>
            </a:pPr>
            <a:r>
              <a:rPr lang="en-CA" sz="2400" dirty="0">
                <a:solidFill>
                  <a:schemeClr val="bg1"/>
                </a:solidFill>
              </a:rPr>
              <a:t>Lasso Regression</a:t>
            </a:r>
          </a:p>
        </p:txBody>
      </p:sp>
      <p:pic>
        <p:nvPicPr>
          <p:cNvPr id="6" name="Picture 5" descr="Diagram&#10;&#10;Description automatically generated">
            <a:extLst>
              <a:ext uri="{FF2B5EF4-FFF2-40B4-BE49-F238E27FC236}">
                <a16:creationId xmlns:a16="http://schemas.microsoft.com/office/drawing/2014/main" id="{B6A1A04C-D60A-43B4-93C0-FC535D4A74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5645" y="746019"/>
            <a:ext cx="7284496" cy="5390527"/>
          </a:xfrm>
          <a:prstGeom prst="rect">
            <a:avLst/>
          </a:prstGeom>
        </p:spPr>
      </p:pic>
    </p:spTree>
    <p:extLst>
      <p:ext uri="{BB962C8B-B14F-4D97-AF65-F5344CB8AC3E}">
        <p14:creationId xmlns:p14="http://schemas.microsoft.com/office/powerpoint/2010/main" val="10053585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7704"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C44347-6D27-42D6-9B7B-61A7D506E818}"/>
              </a:ext>
            </a:extLst>
          </p:cNvPr>
          <p:cNvSpPr>
            <a:spLocks noGrp="1"/>
          </p:cNvSpPr>
          <p:nvPr>
            <p:ph type="title"/>
          </p:nvPr>
        </p:nvSpPr>
        <p:spPr>
          <a:xfrm>
            <a:off x="7853585" y="643467"/>
            <a:ext cx="4067798" cy="1728044"/>
          </a:xfrm>
          <a:noFill/>
          <a:ln>
            <a:solidFill>
              <a:schemeClr val="bg1"/>
            </a:solidFill>
          </a:ln>
        </p:spPr>
        <p:txBody>
          <a:bodyPr wrap="square">
            <a:normAutofit/>
          </a:bodyPr>
          <a:lstStyle/>
          <a:p>
            <a:r>
              <a:rPr lang="en-CA" dirty="0">
                <a:solidFill>
                  <a:schemeClr val="bg1"/>
                </a:solidFill>
              </a:rPr>
              <a:t>Training model</a:t>
            </a:r>
            <a:br>
              <a:rPr lang="en-CA" dirty="0">
                <a:solidFill>
                  <a:schemeClr val="bg1"/>
                </a:solidFill>
              </a:rPr>
            </a:br>
            <a:r>
              <a:rPr lang="en-CA" dirty="0">
                <a:solidFill>
                  <a:schemeClr val="bg1"/>
                </a:solidFill>
              </a:rPr>
              <a:t>Results</a:t>
            </a:r>
          </a:p>
        </p:txBody>
      </p:sp>
      <p:pic>
        <p:nvPicPr>
          <p:cNvPr id="7" name="Picture 6" descr="Chart, histogram&#10;&#10;Description automatically generated">
            <a:extLst>
              <a:ext uri="{FF2B5EF4-FFF2-40B4-BE49-F238E27FC236}">
                <a16:creationId xmlns:a16="http://schemas.microsoft.com/office/drawing/2014/main" id="{E57FE2A1-B5AE-432C-BA9F-F9C8EA63F5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687" y="289194"/>
            <a:ext cx="7002279" cy="3973793"/>
          </a:xfrm>
          <a:prstGeom prst="rect">
            <a:avLst/>
          </a:prstGeom>
        </p:spPr>
      </p:pic>
      <p:sp>
        <p:nvSpPr>
          <p:cNvPr id="3" name="Content Placeholder 2">
            <a:extLst>
              <a:ext uri="{FF2B5EF4-FFF2-40B4-BE49-F238E27FC236}">
                <a16:creationId xmlns:a16="http://schemas.microsoft.com/office/drawing/2014/main" id="{35FE211B-8B1A-4060-9C41-B96C558C0070}"/>
              </a:ext>
            </a:extLst>
          </p:cNvPr>
          <p:cNvSpPr>
            <a:spLocks noGrp="1"/>
          </p:cNvSpPr>
          <p:nvPr>
            <p:ph idx="1"/>
          </p:nvPr>
        </p:nvSpPr>
        <p:spPr>
          <a:xfrm>
            <a:off x="7853585" y="2638043"/>
            <a:ext cx="4067798" cy="3868774"/>
          </a:xfrm>
        </p:spPr>
        <p:txBody>
          <a:bodyPr>
            <a:normAutofit/>
          </a:bodyPr>
          <a:lstStyle/>
          <a:p>
            <a:pPr marL="0" indent="0">
              <a:lnSpc>
                <a:spcPct val="90000"/>
              </a:lnSpc>
              <a:buNone/>
            </a:pPr>
            <a:endParaRPr lang="en-CA" sz="1600" dirty="0">
              <a:solidFill>
                <a:schemeClr val="bg1"/>
              </a:solidFill>
            </a:endParaRPr>
          </a:p>
          <a:p>
            <a:pPr marL="0" indent="0">
              <a:lnSpc>
                <a:spcPct val="90000"/>
              </a:lnSpc>
              <a:buNone/>
            </a:pPr>
            <a:r>
              <a:rPr lang="en-CA" dirty="0">
                <a:solidFill>
                  <a:schemeClr val="bg1"/>
                </a:solidFill>
              </a:rPr>
              <a:t>Split the dataset </a:t>
            </a:r>
          </a:p>
          <a:p>
            <a:pPr marL="0" indent="0">
              <a:lnSpc>
                <a:spcPct val="90000"/>
              </a:lnSpc>
              <a:buNone/>
            </a:pPr>
            <a:r>
              <a:rPr lang="en-CA" dirty="0">
                <a:solidFill>
                  <a:schemeClr val="bg1"/>
                </a:solidFill>
              </a:rPr>
              <a:t>	60% training</a:t>
            </a:r>
          </a:p>
          <a:p>
            <a:pPr marL="0" indent="0">
              <a:lnSpc>
                <a:spcPct val="90000"/>
              </a:lnSpc>
              <a:buNone/>
            </a:pPr>
            <a:r>
              <a:rPr lang="en-CA" dirty="0">
                <a:solidFill>
                  <a:schemeClr val="bg1"/>
                </a:solidFill>
              </a:rPr>
              <a:t>	40% testing)</a:t>
            </a:r>
          </a:p>
          <a:p>
            <a:pPr marL="0" indent="0">
              <a:lnSpc>
                <a:spcPct val="90000"/>
              </a:lnSpc>
              <a:buNone/>
            </a:pPr>
            <a:endParaRPr lang="it-IT" b="1" dirty="0">
              <a:solidFill>
                <a:schemeClr val="bg1"/>
              </a:solidFill>
              <a:latin typeface="Courier New" panose="02070309020205020404" pitchFamily="49" charset="0"/>
              <a:cs typeface="Courier New" panose="02070309020205020404" pitchFamily="49" charset="0"/>
            </a:endParaRPr>
          </a:p>
          <a:p>
            <a:pPr marL="0" indent="0">
              <a:lnSpc>
                <a:spcPct val="90000"/>
              </a:lnSpc>
              <a:spcBef>
                <a:spcPts val="600"/>
              </a:spcBef>
              <a:buNone/>
            </a:pPr>
            <a:endParaRPr lang="it-IT" sz="1600" b="1" dirty="0">
              <a:solidFill>
                <a:schemeClr val="bg1"/>
              </a:solidFill>
              <a:latin typeface="Courier New" panose="02070309020205020404" pitchFamily="49" charset="0"/>
              <a:cs typeface="Courier New" panose="02070309020205020404" pitchFamily="49" charset="0"/>
            </a:endParaRPr>
          </a:p>
          <a:p>
            <a:pPr marL="0" indent="0">
              <a:lnSpc>
                <a:spcPct val="90000"/>
              </a:lnSpc>
              <a:spcBef>
                <a:spcPts val="600"/>
              </a:spcBef>
              <a:buNone/>
            </a:pPr>
            <a:r>
              <a:rPr lang="it-IT" sz="1600" b="1" dirty="0">
                <a:solidFill>
                  <a:schemeClr val="bg1"/>
                </a:solidFill>
                <a:latin typeface="Courier New" panose="02070309020205020404" pitchFamily="49" charset="0"/>
                <a:cs typeface="Courier New" panose="02070309020205020404" pitchFamily="49" charset="0"/>
              </a:rPr>
              <a:t>     Model	      	  RMSE</a:t>
            </a:r>
          </a:p>
          <a:p>
            <a:pPr marL="0" indent="0">
              <a:lnSpc>
                <a:spcPct val="90000"/>
              </a:lnSpc>
              <a:spcBef>
                <a:spcPts val="600"/>
              </a:spcBef>
              <a:buNone/>
            </a:pPr>
            <a:r>
              <a:rPr lang="it-IT" sz="1600" dirty="0">
                <a:solidFill>
                  <a:schemeClr val="bg1"/>
                </a:solidFill>
                <a:latin typeface="Courier New" panose="02070309020205020404" pitchFamily="49" charset="0"/>
                <a:cs typeface="Courier New" panose="02070309020205020404" pitchFamily="49" charset="0"/>
              </a:rPr>
              <a:t>LinearRegression  	0.412698</a:t>
            </a:r>
          </a:p>
          <a:p>
            <a:pPr marL="0" indent="0">
              <a:lnSpc>
                <a:spcPct val="90000"/>
              </a:lnSpc>
              <a:spcBef>
                <a:spcPts val="600"/>
              </a:spcBef>
              <a:buNone/>
            </a:pPr>
            <a:r>
              <a:rPr lang="it-IT" sz="1600" dirty="0">
                <a:solidFill>
                  <a:schemeClr val="bg1"/>
                </a:solidFill>
                <a:latin typeface="Courier New" panose="02070309020205020404" pitchFamily="49" charset="0"/>
                <a:cs typeface="Courier New" panose="02070309020205020404" pitchFamily="49" charset="0"/>
              </a:rPr>
              <a:t>           Ridge  	0.412723</a:t>
            </a:r>
          </a:p>
          <a:p>
            <a:pPr marL="0" indent="0">
              <a:lnSpc>
                <a:spcPct val="90000"/>
              </a:lnSpc>
              <a:spcBef>
                <a:spcPts val="600"/>
              </a:spcBef>
              <a:buNone/>
            </a:pPr>
            <a:r>
              <a:rPr lang="it-IT" sz="1600" dirty="0">
                <a:solidFill>
                  <a:schemeClr val="bg1"/>
                </a:solidFill>
                <a:latin typeface="Courier New" panose="02070309020205020404" pitchFamily="49" charset="0"/>
                <a:cs typeface="Courier New" panose="02070309020205020404" pitchFamily="49" charset="0"/>
              </a:rPr>
              <a:t>           Lasso  	0.412698</a:t>
            </a:r>
          </a:p>
          <a:p>
            <a:pPr marL="0" indent="0">
              <a:lnSpc>
                <a:spcPct val="90000"/>
              </a:lnSpc>
              <a:spcBef>
                <a:spcPts val="600"/>
              </a:spcBef>
              <a:buNone/>
            </a:pPr>
            <a:endParaRPr lang="it-IT" sz="1600" dirty="0">
              <a:solidFill>
                <a:schemeClr val="bg1"/>
              </a:solidFill>
              <a:latin typeface="Courier New" panose="02070309020205020404" pitchFamily="49" charset="0"/>
              <a:cs typeface="Courier New" panose="02070309020205020404" pitchFamily="49" charset="0"/>
            </a:endParaRPr>
          </a:p>
        </p:txBody>
      </p:sp>
      <p:sp>
        <p:nvSpPr>
          <p:cNvPr id="8" name="Content Placeholder 2">
            <a:extLst>
              <a:ext uri="{FF2B5EF4-FFF2-40B4-BE49-F238E27FC236}">
                <a16:creationId xmlns:a16="http://schemas.microsoft.com/office/drawing/2014/main" id="{CC8CB72B-B795-4F85-9DAC-11636F163137}"/>
              </a:ext>
            </a:extLst>
          </p:cNvPr>
          <p:cNvSpPr txBox="1">
            <a:spLocks/>
          </p:cNvSpPr>
          <p:nvPr/>
        </p:nvSpPr>
        <p:spPr>
          <a:xfrm>
            <a:off x="266687" y="4408761"/>
            <a:ext cx="7000400" cy="2160045"/>
          </a:xfrm>
          <a:prstGeom prst="rect">
            <a:avLst/>
          </a:prstGeom>
        </p:spPr>
        <p:txBody>
          <a:bodyPr vert="horz" lIns="91440" tIns="45720" rIns="91440" bIns="45720" rtlCol="0" anchor="ctr">
            <a:normAutofit fontScale="92500" lnSpcReduction="20000"/>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a:buFontTx/>
              <a:buChar char="-"/>
            </a:pPr>
            <a:r>
              <a:rPr lang="en-CA" sz="2400" i="1" dirty="0"/>
              <a:t>RMSE (</a:t>
            </a:r>
            <a:r>
              <a:rPr lang="en-CA" sz="2000" dirty="0"/>
              <a:t>Root Mean Square Error, the standard deviation of the residuals</a:t>
            </a:r>
            <a:r>
              <a:rPr lang="en-CA" sz="2400" dirty="0"/>
              <a:t>) </a:t>
            </a:r>
            <a:r>
              <a:rPr lang="en-CA" sz="2400" i="1" dirty="0"/>
              <a:t>is used to determine the best model to be used.  The lowest the best.</a:t>
            </a:r>
          </a:p>
          <a:p>
            <a:pPr>
              <a:buFontTx/>
              <a:buChar char="-"/>
            </a:pPr>
            <a:r>
              <a:rPr lang="en-CA" sz="2400" i="1" dirty="0"/>
              <a:t> The residuals graph shows a proper distribution of the residuals. The residuals graph is not skewed,  with the mode near zero. Therefore, it can be used to claim that the prediction model is adequate. </a:t>
            </a:r>
          </a:p>
        </p:txBody>
      </p:sp>
    </p:spTree>
    <p:extLst>
      <p:ext uri="{BB962C8B-B14F-4D97-AF65-F5344CB8AC3E}">
        <p14:creationId xmlns:p14="http://schemas.microsoft.com/office/powerpoint/2010/main" val="27158460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44347-6D27-42D6-9B7B-61A7D506E818}"/>
              </a:ext>
            </a:extLst>
          </p:cNvPr>
          <p:cNvSpPr>
            <a:spLocks noGrp="1"/>
          </p:cNvSpPr>
          <p:nvPr>
            <p:ph type="title"/>
          </p:nvPr>
        </p:nvSpPr>
        <p:spPr>
          <a:xfrm>
            <a:off x="3033957" y="166587"/>
            <a:ext cx="5211417" cy="572092"/>
          </a:xfrm>
        </p:spPr>
        <p:txBody>
          <a:bodyPr vert="horz" lIns="274320" tIns="182880" rIns="274320" bIns="182880" rtlCol="0" anchor="ctr" anchorCtr="1">
            <a:normAutofit fontScale="90000"/>
          </a:bodyPr>
          <a:lstStyle/>
          <a:p>
            <a:r>
              <a:rPr lang="en-US" sz="3200" dirty="0"/>
              <a:t>PREDICTIONS</a:t>
            </a:r>
          </a:p>
        </p:txBody>
      </p:sp>
      <p:sp>
        <p:nvSpPr>
          <p:cNvPr id="5" name="Content Placeholder 2">
            <a:extLst>
              <a:ext uri="{FF2B5EF4-FFF2-40B4-BE49-F238E27FC236}">
                <a16:creationId xmlns:a16="http://schemas.microsoft.com/office/drawing/2014/main" id="{E673BBEC-17BE-4E54-ABC0-ECB7C752E0B4}"/>
              </a:ext>
            </a:extLst>
          </p:cNvPr>
          <p:cNvSpPr>
            <a:spLocks noGrp="1"/>
          </p:cNvSpPr>
          <p:nvPr>
            <p:ph idx="1"/>
          </p:nvPr>
        </p:nvSpPr>
        <p:spPr>
          <a:xfrm>
            <a:off x="803764" y="1415636"/>
            <a:ext cx="2880000" cy="3600000"/>
          </a:xfrm>
        </p:spPr>
        <p:txBody>
          <a:bodyPr>
            <a:normAutofit lnSpcReduction="10000"/>
          </a:bodyPr>
          <a:lstStyle/>
          <a:p>
            <a:pPr marL="0" indent="0" algn="l">
              <a:spcBef>
                <a:spcPts val="300"/>
              </a:spcBef>
              <a:buNone/>
            </a:pPr>
            <a:r>
              <a:rPr lang="en-US" sz="1800" b="1" i="0" dirty="0">
                <a:solidFill>
                  <a:srgbClr val="000000"/>
                </a:solidFill>
                <a:effectLst/>
              </a:rPr>
              <a:t>Car #1</a:t>
            </a:r>
          </a:p>
          <a:p>
            <a:pPr marL="0" indent="0" algn="l">
              <a:spcBef>
                <a:spcPts val="300"/>
              </a:spcBef>
              <a:buNone/>
            </a:pPr>
            <a:endParaRPr lang="en-US" sz="1400" b="0" i="0" dirty="0">
              <a:solidFill>
                <a:srgbClr val="000000"/>
              </a:solidFill>
              <a:effectLst/>
            </a:endParaRPr>
          </a:p>
          <a:p>
            <a:pPr marL="0" indent="0" algn="l">
              <a:spcBef>
                <a:spcPts val="300"/>
              </a:spcBef>
              <a:buNone/>
            </a:pPr>
            <a:endParaRPr lang="en-US" sz="1400" b="0" i="0" dirty="0">
              <a:solidFill>
                <a:srgbClr val="000000"/>
              </a:solidFill>
              <a:effectLst/>
            </a:endParaRPr>
          </a:p>
          <a:p>
            <a:pPr algn="l">
              <a:spcBef>
                <a:spcPts val="300"/>
              </a:spcBef>
              <a:buFont typeface="Arial" panose="020B0604020202020204" pitchFamily="34" charset="0"/>
              <a:buChar char="•"/>
            </a:pPr>
            <a:endParaRPr lang="en-US" sz="1400" b="0" i="0" dirty="0">
              <a:solidFill>
                <a:srgbClr val="000000"/>
              </a:solidFill>
              <a:effectLst/>
            </a:endParaRPr>
          </a:p>
          <a:p>
            <a:pPr marL="0" indent="0" algn="l">
              <a:spcBef>
                <a:spcPts val="300"/>
              </a:spcBef>
              <a:buNone/>
            </a:pPr>
            <a:r>
              <a:rPr lang="en-US" sz="1400" b="0" i="0" dirty="0">
                <a:solidFill>
                  <a:srgbClr val="000000"/>
                </a:solidFill>
                <a:effectLst/>
              </a:rPr>
              <a:t>Condition = Good</a:t>
            </a:r>
          </a:p>
          <a:p>
            <a:pPr marL="0" indent="0" algn="l">
              <a:spcBef>
                <a:spcPts val="300"/>
              </a:spcBef>
              <a:buNone/>
            </a:pPr>
            <a:r>
              <a:rPr lang="en-US" sz="1400" b="0" i="0" dirty="0">
                <a:solidFill>
                  <a:srgbClr val="000000"/>
                </a:solidFill>
                <a:effectLst/>
              </a:rPr>
              <a:t>Cylinders = 6 cylinders</a:t>
            </a:r>
          </a:p>
          <a:p>
            <a:pPr marL="0" indent="0" algn="l">
              <a:spcBef>
                <a:spcPts val="300"/>
              </a:spcBef>
              <a:buNone/>
            </a:pPr>
            <a:r>
              <a:rPr lang="en-US" sz="1400" b="0" i="0" dirty="0">
                <a:solidFill>
                  <a:srgbClr val="000000"/>
                </a:solidFill>
                <a:effectLst/>
              </a:rPr>
              <a:t>Fuel = Gas</a:t>
            </a:r>
          </a:p>
          <a:p>
            <a:pPr marL="0" indent="0" algn="l">
              <a:spcBef>
                <a:spcPts val="300"/>
              </a:spcBef>
              <a:buNone/>
            </a:pPr>
            <a:r>
              <a:rPr lang="en-US" sz="1400" b="0" i="0" dirty="0">
                <a:solidFill>
                  <a:srgbClr val="000000"/>
                </a:solidFill>
                <a:effectLst/>
              </a:rPr>
              <a:t>Transmission = Automatic</a:t>
            </a:r>
          </a:p>
          <a:p>
            <a:pPr marL="0" indent="0" algn="l">
              <a:spcBef>
                <a:spcPts val="300"/>
              </a:spcBef>
              <a:buNone/>
            </a:pPr>
            <a:r>
              <a:rPr lang="en-US" sz="1400" b="0" i="0" dirty="0">
                <a:solidFill>
                  <a:srgbClr val="000000"/>
                </a:solidFill>
                <a:effectLst/>
              </a:rPr>
              <a:t>Size = mid-size</a:t>
            </a:r>
          </a:p>
          <a:p>
            <a:pPr marL="0" indent="0" algn="l">
              <a:spcBef>
                <a:spcPts val="300"/>
              </a:spcBef>
              <a:buNone/>
            </a:pPr>
            <a:r>
              <a:rPr lang="en-US" sz="1400" b="0" i="0" dirty="0">
                <a:solidFill>
                  <a:srgbClr val="000000"/>
                </a:solidFill>
                <a:effectLst/>
              </a:rPr>
              <a:t>Type = Sedan</a:t>
            </a:r>
          </a:p>
          <a:p>
            <a:pPr marL="0" indent="0" algn="l">
              <a:spcBef>
                <a:spcPts val="300"/>
              </a:spcBef>
              <a:buNone/>
            </a:pPr>
            <a:r>
              <a:rPr lang="en-US" sz="1400" b="0" i="0" dirty="0">
                <a:solidFill>
                  <a:srgbClr val="000000"/>
                </a:solidFill>
                <a:effectLst/>
              </a:rPr>
              <a:t>Paint color = Black</a:t>
            </a:r>
          </a:p>
          <a:p>
            <a:pPr marL="0" indent="0" algn="l">
              <a:spcBef>
                <a:spcPts val="300"/>
              </a:spcBef>
              <a:buNone/>
            </a:pPr>
            <a:r>
              <a:rPr lang="en-US" sz="1400" b="0" i="0" dirty="0">
                <a:solidFill>
                  <a:srgbClr val="000000"/>
                </a:solidFill>
                <a:effectLst/>
              </a:rPr>
              <a:t>Odometer = 22,000 miles</a:t>
            </a:r>
          </a:p>
          <a:p>
            <a:pPr marL="0" indent="0" algn="l">
              <a:spcBef>
                <a:spcPts val="300"/>
              </a:spcBef>
              <a:buNone/>
            </a:pPr>
            <a:r>
              <a:rPr lang="en-US" sz="1400" b="0" i="0" dirty="0">
                <a:solidFill>
                  <a:srgbClr val="000000"/>
                </a:solidFill>
                <a:effectLst/>
              </a:rPr>
              <a:t>Age = 5 years old</a:t>
            </a:r>
          </a:p>
          <a:p>
            <a:pPr marL="0" indent="0">
              <a:spcBef>
                <a:spcPts val="300"/>
              </a:spcBef>
              <a:buNone/>
            </a:pPr>
            <a:endParaRPr lang="it-IT" sz="1400" dirty="0">
              <a:cs typeface="Courier New" panose="02070309020205020404" pitchFamily="49" charset="0"/>
            </a:endParaRPr>
          </a:p>
          <a:p>
            <a:pPr marL="0" indent="0">
              <a:spcBef>
                <a:spcPts val="300"/>
              </a:spcBef>
              <a:buNone/>
            </a:pPr>
            <a:r>
              <a:rPr lang="en-US" sz="1400" dirty="0">
                <a:cs typeface="Courier New" panose="02070309020205020404" pitchFamily="49" charset="0"/>
              </a:rPr>
              <a:t>Predicted Price: </a:t>
            </a:r>
            <a:r>
              <a:rPr lang="en-US" sz="1600" b="1" dirty="0">
                <a:cs typeface="Courier New" panose="02070309020205020404" pitchFamily="49" charset="0"/>
              </a:rPr>
              <a:t>$14,222.30</a:t>
            </a:r>
            <a:endParaRPr lang="it-IT" sz="1600" b="1" dirty="0">
              <a:cs typeface="Courier New" panose="02070309020205020404" pitchFamily="49" charset="0"/>
            </a:endParaRPr>
          </a:p>
        </p:txBody>
      </p:sp>
      <p:sp>
        <p:nvSpPr>
          <p:cNvPr id="6" name="Content Placeholder 2">
            <a:extLst>
              <a:ext uri="{FF2B5EF4-FFF2-40B4-BE49-F238E27FC236}">
                <a16:creationId xmlns:a16="http://schemas.microsoft.com/office/drawing/2014/main" id="{A7C1C151-839E-4E6A-ABBF-4978A6B41DF2}"/>
              </a:ext>
            </a:extLst>
          </p:cNvPr>
          <p:cNvSpPr txBox="1">
            <a:spLocks/>
          </p:cNvSpPr>
          <p:nvPr/>
        </p:nvSpPr>
        <p:spPr>
          <a:xfrm>
            <a:off x="4726864" y="1415636"/>
            <a:ext cx="2880000" cy="3600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
              </a:spcBef>
              <a:buFont typeface="Arial" panose="020B0604020202020204" pitchFamily="34" charset="0"/>
              <a:buNone/>
            </a:pPr>
            <a:r>
              <a:rPr lang="en-US" sz="1800" b="1" dirty="0">
                <a:solidFill>
                  <a:srgbClr val="000000"/>
                </a:solidFill>
              </a:rPr>
              <a:t>Car #2</a:t>
            </a:r>
          </a:p>
          <a:p>
            <a:pPr marL="0" indent="0">
              <a:spcBef>
                <a:spcPts val="300"/>
              </a:spcBef>
              <a:buFont typeface="Arial" panose="020B0604020202020204" pitchFamily="34" charset="0"/>
              <a:buNone/>
            </a:pPr>
            <a:endParaRPr lang="en-US" sz="1400" dirty="0">
              <a:solidFill>
                <a:srgbClr val="000000"/>
              </a:solidFill>
            </a:endParaRPr>
          </a:p>
          <a:p>
            <a:pPr marL="0" indent="0">
              <a:spcBef>
                <a:spcPts val="300"/>
              </a:spcBef>
              <a:buFont typeface="Arial" panose="020B0604020202020204" pitchFamily="34" charset="0"/>
              <a:buNone/>
            </a:pPr>
            <a:endParaRPr lang="en-US" sz="1400" dirty="0">
              <a:solidFill>
                <a:srgbClr val="000000"/>
              </a:solidFill>
            </a:endParaRPr>
          </a:p>
          <a:p>
            <a:pPr marL="0" indent="0">
              <a:spcBef>
                <a:spcPts val="300"/>
              </a:spcBef>
              <a:buFont typeface="Arial" panose="020B0604020202020204" pitchFamily="34" charset="0"/>
              <a:buNone/>
            </a:pPr>
            <a:endParaRPr lang="en-US" sz="1400" dirty="0">
              <a:solidFill>
                <a:srgbClr val="000000"/>
              </a:solidFill>
            </a:endParaRPr>
          </a:p>
          <a:p>
            <a:pPr marL="0" indent="0">
              <a:spcBef>
                <a:spcPts val="300"/>
              </a:spcBef>
              <a:buNone/>
            </a:pPr>
            <a:r>
              <a:rPr lang="en-US" sz="1400" dirty="0">
                <a:solidFill>
                  <a:srgbClr val="000000"/>
                </a:solidFill>
              </a:rPr>
              <a:t>Condition = New</a:t>
            </a:r>
          </a:p>
          <a:p>
            <a:pPr marL="0" indent="0">
              <a:spcBef>
                <a:spcPts val="300"/>
              </a:spcBef>
              <a:buNone/>
            </a:pPr>
            <a:r>
              <a:rPr lang="en-US" sz="1400" dirty="0">
                <a:solidFill>
                  <a:srgbClr val="000000"/>
                </a:solidFill>
              </a:rPr>
              <a:t>Cylinders = 10 cylinders</a:t>
            </a:r>
          </a:p>
          <a:p>
            <a:pPr marL="0" indent="0">
              <a:spcBef>
                <a:spcPts val="300"/>
              </a:spcBef>
              <a:buNone/>
            </a:pPr>
            <a:r>
              <a:rPr lang="en-US" sz="1400" dirty="0">
                <a:solidFill>
                  <a:srgbClr val="000000"/>
                </a:solidFill>
              </a:rPr>
              <a:t>Fuel = Diesel</a:t>
            </a:r>
          </a:p>
          <a:p>
            <a:pPr marL="0" indent="0">
              <a:spcBef>
                <a:spcPts val="300"/>
              </a:spcBef>
              <a:buNone/>
            </a:pPr>
            <a:r>
              <a:rPr lang="en-US" sz="1400" dirty="0">
                <a:solidFill>
                  <a:srgbClr val="000000"/>
                </a:solidFill>
              </a:rPr>
              <a:t>Transmission = Automatic</a:t>
            </a:r>
          </a:p>
          <a:p>
            <a:pPr marL="0" indent="0">
              <a:spcBef>
                <a:spcPts val="300"/>
              </a:spcBef>
              <a:buNone/>
            </a:pPr>
            <a:r>
              <a:rPr lang="en-US" sz="1400" dirty="0">
                <a:solidFill>
                  <a:srgbClr val="000000"/>
                </a:solidFill>
              </a:rPr>
              <a:t>Size = mid-size</a:t>
            </a:r>
          </a:p>
          <a:p>
            <a:pPr marL="0" indent="0">
              <a:spcBef>
                <a:spcPts val="300"/>
              </a:spcBef>
              <a:buNone/>
            </a:pPr>
            <a:r>
              <a:rPr lang="en-US" sz="1400" dirty="0">
                <a:solidFill>
                  <a:srgbClr val="000000"/>
                </a:solidFill>
              </a:rPr>
              <a:t>Type = SUV</a:t>
            </a:r>
          </a:p>
          <a:p>
            <a:pPr marL="0" indent="0">
              <a:spcBef>
                <a:spcPts val="300"/>
              </a:spcBef>
              <a:buNone/>
            </a:pPr>
            <a:r>
              <a:rPr lang="en-US" sz="1400" dirty="0">
                <a:solidFill>
                  <a:srgbClr val="000000"/>
                </a:solidFill>
              </a:rPr>
              <a:t>Paint color = Silver</a:t>
            </a:r>
          </a:p>
          <a:p>
            <a:pPr marL="0" indent="0">
              <a:spcBef>
                <a:spcPts val="300"/>
              </a:spcBef>
              <a:buNone/>
            </a:pPr>
            <a:r>
              <a:rPr lang="en-US" sz="1400" dirty="0">
                <a:solidFill>
                  <a:srgbClr val="000000"/>
                </a:solidFill>
              </a:rPr>
              <a:t>Odometer = 10,000 miles</a:t>
            </a:r>
          </a:p>
          <a:p>
            <a:pPr marL="0" indent="0">
              <a:spcBef>
                <a:spcPts val="300"/>
              </a:spcBef>
              <a:buNone/>
            </a:pPr>
            <a:r>
              <a:rPr lang="en-US" sz="1400" dirty="0">
                <a:solidFill>
                  <a:srgbClr val="000000"/>
                </a:solidFill>
              </a:rPr>
              <a:t>Age = 2 years old</a:t>
            </a:r>
            <a:endParaRPr lang="it-IT" sz="1400" dirty="0">
              <a:cs typeface="Courier New" panose="02070309020205020404" pitchFamily="49" charset="0"/>
            </a:endParaRPr>
          </a:p>
          <a:p>
            <a:pPr marL="0" indent="0">
              <a:spcBef>
                <a:spcPts val="300"/>
              </a:spcBef>
              <a:buFont typeface="Arial" panose="020B0604020202020204" pitchFamily="34" charset="0"/>
              <a:buNone/>
            </a:pPr>
            <a:endParaRPr lang="en-US" sz="1400" dirty="0">
              <a:cs typeface="Courier New" panose="02070309020205020404" pitchFamily="49" charset="0"/>
            </a:endParaRPr>
          </a:p>
          <a:p>
            <a:pPr marL="0" indent="0">
              <a:spcBef>
                <a:spcPts val="300"/>
              </a:spcBef>
              <a:buFont typeface="Arial" panose="020B0604020202020204" pitchFamily="34" charset="0"/>
              <a:buNone/>
            </a:pPr>
            <a:r>
              <a:rPr lang="en-US" sz="1400" dirty="0">
                <a:cs typeface="Courier New" panose="02070309020205020404" pitchFamily="49" charset="0"/>
              </a:rPr>
              <a:t>Predicted Price: </a:t>
            </a:r>
            <a:r>
              <a:rPr lang="en-US" sz="1600" b="1" dirty="0">
                <a:cs typeface="Courier New" panose="02070309020205020404" pitchFamily="49" charset="0"/>
              </a:rPr>
              <a:t>$77,876.45</a:t>
            </a:r>
            <a:endParaRPr lang="it-IT" sz="1600" b="1" dirty="0">
              <a:cs typeface="Courier New" panose="02070309020205020404" pitchFamily="49" charset="0"/>
            </a:endParaRPr>
          </a:p>
        </p:txBody>
      </p:sp>
      <p:sp>
        <p:nvSpPr>
          <p:cNvPr id="7" name="Content Placeholder 2">
            <a:extLst>
              <a:ext uri="{FF2B5EF4-FFF2-40B4-BE49-F238E27FC236}">
                <a16:creationId xmlns:a16="http://schemas.microsoft.com/office/drawing/2014/main" id="{5AC65FDE-1ADA-4C24-8539-B6F2D5A5C566}"/>
              </a:ext>
            </a:extLst>
          </p:cNvPr>
          <p:cNvSpPr txBox="1">
            <a:spLocks/>
          </p:cNvSpPr>
          <p:nvPr/>
        </p:nvSpPr>
        <p:spPr>
          <a:xfrm>
            <a:off x="8649965" y="1415636"/>
            <a:ext cx="2880000" cy="3600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
              </a:spcBef>
              <a:buFont typeface="Arial" panose="020B0604020202020204" pitchFamily="34" charset="0"/>
              <a:buNone/>
            </a:pPr>
            <a:r>
              <a:rPr lang="en-US" sz="1800" b="1" dirty="0">
                <a:solidFill>
                  <a:srgbClr val="000000"/>
                </a:solidFill>
              </a:rPr>
              <a:t>Car #3</a:t>
            </a:r>
          </a:p>
          <a:p>
            <a:pPr marL="0" indent="0">
              <a:spcBef>
                <a:spcPts val="300"/>
              </a:spcBef>
              <a:buFont typeface="Arial" panose="020B0604020202020204" pitchFamily="34" charset="0"/>
              <a:buNone/>
            </a:pPr>
            <a:endParaRPr lang="en-US" sz="1400" dirty="0">
              <a:solidFill>
                <a:srgbClr val="000000"/>
              </a:solidFill>
            </a:endParaRPr>
          </a:p>
          <a:p>
            <a:pPr marL="0" indent="0">
              <a:spcBef>
                <a:spcPts val="300"/>
              </a:spcBef>
              <a:buFont typeface="Arial" panose="020B0604020202020204" pitchFamily="34" charset="0"/>
              <a:buNone/>
            </a:pPr>
            <a:endParaRPr lang="en-US" sz="1400" dirty="0">
              <a:solidFill>
                <a:srgbClr val="000000"/>
              </a:solidFill>
            </a:endParaRPr>
          </a:p>
          <a:p>
            <a:pPr>
              <a:spcBef>
                <a:spcPts val="300"/>
              </a:spcBef>
            </a:pPr>
            <a:endParaRPr lang="en-US" sz="1400" dirty="0">
              <a:solidFill>
                <a:srgbClr val="000000"/>
              </a:solidFill>
            </a:endParaRPr>
          </a:p>
          <a:p>
            <a:pPr marL="0" indent="0">
              <a:spcBef>
                <a:spcPts val="300"/>
              </a:spcBef>
              <a:buNone/>
            </a:pPr>
            <a:r>
              <a:rPr lang="en-US" sz="1400" dirty="0">
                <a:solidFill>
                  <a:srgbClr val="000000"/>
                </a:solidFill>
              </a:rPr>
              <a:t>Condition = Excellent</a:t>
            </a:r>
          </a:p>
          <a:p>
            <a:pPr marL="0" indent="0">
              <a:spcBef>
                <a:spcPts val="300"/>
              </a:spcBef>
              <a:buNone/>
            </a:pPr>
            <a:r>
              <a:rPr lang="en-US" sz="1400" dirty="0">
                <a:solidFill>
                  <a:srgbClr val="000000"/>
                </a:solidFill>
              </a:rPr>
              <a:t>Cylinders = 12 cylinders</a:t>
            </a:r>
          </a:p>
          <a:p>
            <a:pPr marL="0" indent="0">
              <a:spcBef>
                <a:spcPts val="300"/>
              </a:spcBef>
              <a:buNone/>
            </a:pPr>
            <a:r>
              <a:rPr lang="en-US" sz="1400" dirty="0">
                <a:solidFill>
                  <a:srgbClr val="000000"/>
                </a:solidFill>
              </a:rPr>
              <a:t>Fuel = Hybrid</a:t>
            </a:r>
          </a:p>
          <a:p>
            <a:pPr marL="0" indent="0">
              <a:spcBef>
                <a:spcPts val="300"/>
              </a:spcBef>
              <a:buNone/>
            </a:pPr>
            <a:r>
              <a:rPr lang="en-US" sz="1400" dirty="0">
                <a:solidFill>
                  <a:srgbClr val="000000"/>
                </a:solidFill>
              </a:rPr>
              <a:t>Transmission = Automatic</a:t>
            </a:r>
          </a:p>
          <a:p>
            <a:pPr marL="0" indent="0">
              <a:spcBef>
                <a:spcPts val="300"/>
              </a:spcBef>
              <a:buNone/>
            </a:pPr>
            <a:r>
              <a:rPr lang="en-US" sz="1400" dirty="0">
                <a:solidFill>
                  <a:srgbClr val="000000"/>
                </a:solidFill>
              </a:rPr>
              <a:t>Size = mid-size</a:t>
            </a:r>
          </a:p>
          <a:p>
            <a:pPr marL="0" indent="0">
              <a:spcBef>
                <a:spcPts val="300"/>
              </a:spcBef>
              <a:buNone/>
            </a:pPr>
            <a:r>
              <a:rPr lang="en-US" sz="1400" dirty="0">
                <a:solidFill>
                  <a:srgbClr val="000000"/>
                </a:solidFill>
              </a:rPr>
              <a:t>Type = convertible</a:t>
            </a:r>
          </a:p>
          <a:p>
            <a:pPr marL="0" indent="0">
              <a:spcBef>
                <a:spcPts val="300"/>
              </a:spcBef>
              <a:buNone/>
            </a:pPr>
            <a:r>
              <a:rPr lang="en-US" sz="1400" dirty="0">
                <a:solidFill>
                  <a:srgbClr val="000000"/>
                </a:solidFill>
              </a:rPr>
              <a:t>Paint color = White</a:t>
            </a:r>
          </a:p>
          <a:p>
            <a:pPr marL="0" indent="0">
              <a:spcBef>
                <a:spcPts val="300"/>
              </a:spcBef>
              <a:buNone/>
            </a:pPr>
            <a:r>
              <a:rPr lang="en-US" sz="1400" dirty="0">
                <a:solidFill>
                  <a:srgbClr val="000000"/>
                </a:solidFill>
              </a:rPr>
              <a:t>Odometer = 30,000 miles</a:t>
            </a:r>
          </a:p>
          <a:p>
            <a:pPr marL="0" indent="0">
              <a:spcBef>
                <a:spcPts val="300"/>
              </a:spcBef>
              <a:buNone/>
            </a:pPr>
            <a:r>
              <a:rPr lang="en-US" sz="1400" dirty="0">
                <a:solidFill>
                  <a:srgbClr val="000000"/>
                </a:solidFill>
              </a:rPr>
              <a:t>Age = 3 years old</a:t>
            </a:r>
          </a:p>
          <a:p>
            <a:pPr marL="0" indent="0">
              <a:spcBef>
                <a:spcPts val="300"/>
              </a:spcBef>
              <a:buFont typeface="Arial" panose="020B0604020202020204" pitchFamily="34" charset="0"/>
              <a:buNone/>
            </a:pPr>
            <a:endParaRPr lang="it-IT" sz="1400" dirty="0">
              <a:cs typeface="Courier New" panose="02070309020205020404" pitchFamily="49" charset="0"/>
            </a:endParaRPr>
          </a:p>
          <a:p>
            <a:pPr marL="0" indent="0">
              <a:spcBef>
                <a:spcPts val="300"/>
              </a:spcBef>
              <a:buFont typeface="Arial" panose="020B0604020202020204" pitchFamily="34" charset="0"/>
              <a:buNone/>
            </a:pPr>
            <a:r>
              <a:rPr lang="en-US" sz="1400" dirty="0">
                <a:cs typeface="Courier New" panose="02070309020205020404" pitchFamily="49" charset="0"/>
              </a:rPr>
              <a:t>Predicted Price: </a:t>
            </a:r>
            <a:r>
              <a:rPr lang="en-US" sz="1600" b="1" dirty="0">
                <a:cs typeface="Courier New" panose="02070309020205020404" pitchFamily="49" charset="0"/>
              </a:rPr>
              <a:t>$110,947.61</a:t>
            </a:r>
            <a:endParaRPr lang="it-IT" sz="1600" b="1" dirty="0">
              <a:cs typeface="Courier New" panose="02070309020205020404" pitchFamily="49" charset="0"/>
            </a:endParaRPr>
          </a:p>
        </p:txBody>
      </p:sp>
      <p:pic>
        <p:nvPicPr>
          <p:cNvPr id="8" name="Picture 7">
            <a:extLst>
              <a:ext uri="{FF2B5EF4-FFF2-40B4-BE49-F238E27FC236}">
                <a16:creationId xmlns:a16="http://schemas.microsoft.com/office/drawing/2014/main" id="{2CD38A0E-654D-4551-B536-2CC0DA4A3571}"/>
              </a:ext>
            </a:extLst>
          </p:cNvPr>
          <p:cNvPicPr>
            <a:picLocks noChangeAspect="1"/>
          </p:cNvPicPr>
          <p:nvPr/>
        </p:nvPicPr>
        <p:blipFill>
          <a:blip r:embed="rId2">
            <a:alphaModFix amt="70000"/>
          </a:blip>
          <a:stretch>
            <a:fillRect/>
          </a:stretch>
        </p:blipFill>
        <p:spPr>
          <a:xfrm>
            <a:off x="971400" y="1767942"/>
            <a:ext cx="648000" cy="479171"/>
          </a:xfrm>
          <a:prstGeom prst="rect">
            <a:avLst/>
          </a:prstGeom>
        </p:spPr>
      </p:pic>
      <p:pic>
        <p:nvPicPr>
          <p:cNvPr id="9" name="Picture 8">
            <a:extLst>
              <a:ext uri="{FF2B5EF4-FFF2-40B4-BE49-F238E27FC236}">
                <a16:creationId xmlns:a16="http://schemas.microsoft.com/office/drawing/2014/main" id="{CFAA810D-E0EA-458B-A32D-08589D7F0933}"/>
              </a:ext>
            </a:extLst>
          </p:cNvPr>
          <p:cNvPicPr>
            <a:picLocks noChangeAspect="1"/>
          </p:cNvPicPr>
          <p:nvPr/>
        </p:nvPicPr>
        <p:blipFill>
          <a:blip r:embed="rId3">
            <a:alphaModFix amt="70000"/>
          </a:blip>
          <a:stretch>
            <a:fillRect/>
          </a:stretch>
        </p:blipFill>
        <p:spPr>
          <a:xfrm>
            <a:off x="4900793" y="1843254"/>
            <a:ext cx="648000" cy="403859"/>
          </a:xfrm>
          <a:prstGeom prst="rect">
            <a:avLst/>
          </a:prstGeom>
        </p:spPr>
      </p:pic>
      <p:pic>
        <p:nvPicPr>
          <p:cNvPr id="10" name="Picture 9">
            <a:extLst>
              <a:ext uri="{FF2B5EF4-FFF2-40B4-BE49-F238E27FC236}">
                <a16:creationId xmlns:a16="http://schemas.microsoft.com/office/drawing/2014/main" id="{050A5CB3-9F6E-4226-B562-6C0582C4DCB7}"/>
              </a:ext>
            </a:extLst>
          </p:cNvPr>
          <p:cNvPicPr>
            <a:picLocks noChangeAspect="1"/>
          </p:cNvPicPr>
          <p:nvPr/>
        </p:nvPicPr>
        <p:blipFill>
          <a:blip r:embed="rId4">
            <a:alphaModFix amt="70000"/>
          </a:blip>
          <a:stretch>
            <a:fillRect/>
          </a:stretch>
        </p:blipFill>
        <p:spPr>
          <a:xfrm>
            <a:off x="8759004" y="1916633"/>
            <a:ext cx="648000" cy="330480"/>
          </a:xfrm>
          <a:prstGeom prst="rect">
            <a:avLst/>
          </a:prstGeom>
        </p:spPr>
      </p:pic>
      <p:sp>
        <p:nvSpPr>
          <p:cNvPr id="11" name="TextBox 10">
            <a:extLst>
              <a:ext uri="{FF2B5EF4-FFF2-40B4-BE49-F238E27FC236}">
                <a16:creationId xmlns:a16="http://schemas.microsoft.com/office/drawing/2014/main" id="{6BC9F9F4-DD26-4792-839B-B10A07F58DF7}"/>
              </a:ext>
            </a:extLst>
          </p:cNvPr>
          <p:cNvSpPr txBox="1"/>
          <p:nvPr/>
        </p:nvSpPr>
        <p:spPr>
          <a:xfrm>
            <a:off x="215154" y="5471598"/>
            <a:ext cx="11770658" cy="400110"/>
          </a:xfrm>
          <a:prstGeom prst="rect">
            <a:avLst/>
          </a:prstGeom>
          <a:noFill/>
        </p:spPr>
        <p:txBody>
          <a:bodyPr wrap="square">
            <a:spAutoFit/>
          </a:bodyPr>
          <a:lstStyle/>
          <a:p>
            <a:pPr algn="ctr"/>
            <a:r>
              <a:rPr lang="en-CA" sz="2000" i="1" dirty="0">
                <a:solidFill>
                  <a:srgbClr val="FF0000"/>
                </a:solidFill>
              </a:rPr>
              <a:t>Should I buy a Honda as described above for $20,000? No, the offer is too expensive for the car characteristics.</a:t>
            </a:r>
          </a:p>
        </p:txBody>
      </p:sp>
      <p:sp>
        <p:nvSpPr>
          <p:cNvPr id="12" name="TextBox 11">
            <a:extLst>
              <a:ext uri="{FF2B5EF4-FFF2-40B4-BE49-F238E27FC236}">
                <a16:creationId xmlns:a16="http://schemas.microsoft.com/office/drawing/2014/main" id="{6528C2F3-A2FD-4D2A-BE2C-7C85109A001D}"/>
              </a:ext>
            </a:extLst>
          </p:cNvPr>
          <p:cNvSpPr txBox="1"/>
          <p:nvPr/>
        </p:nvSpPr>
        <p:spPr>
          <a:xfrm>
            <a:off x="215154" y="5938292"/>
            <a:ext cx="11770658" cy="400110"/>
          </a:xfrm>
          <a:prstGeom prst="rect">
            <a:avLst/>
          </a:prstGeom>
          <a:noFill/>
        </p:spPr>
        <p:txBody>
          <a:bodyPr wrap="square">
            <a:spAutoFit/>
          </a:bodyPr>
          <a:lstStyle/>
          <a:p>
            <a:pPr algn="ctr"/>
            <a:r>
              <a:rPr lang="en-CA" sz="2000" i="1" dirty="0">
                <a:solidFill>
                  <a:srgbClr val="FF0000"/>
                </a:solidFill>
              </a:rPr>
              <a:t>Should I buy SUV Hyundai as described above for $50,000? If all the information advertised are right,  Yes! It is bargain!</a:t>
            </a:r>
            <a:endParaRPr lang="en-CA" sz="1800" i="1" dirty="0"/>
          </a:p>
        </p:txBody>
      </p:sp>
    </p:spTree>
    <p:extLst>
      <p:ext uri="{BB962C8B-B14F-4D97-AF65-F5344CB8AC3E}">
        <p14:creationId xmlns:p14="http://schemas.microsoft.com/office/powerpoint/2010/main" val="5213911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tint val="95000"/>
            <a:satMod val="170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2D2ED89-5AE9-4E9E-B74C-07803A862D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29948" y="0"/>
            <a:ext cx="673210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C44347-6D27-42D6-9B7B-61A7D506E818}"/>
              </a:ext>
            </a:extLst>
          </p:cNvPr>
          <p:cNvSpPr>
            <a:spLocks noGrp="1"/>
          </p:cNvSpPr>
          <p:nvPr>
            <p:ph type="title"/>
          </p:nvPr>
        </p:nvSpPr>
        <p:spPr>
          <a:xfrm>
            <a:off x="1761066" y="964692"/>
            <a:ext cx="8669868" cy="1188720"/>
          </a:xfrm>
          <a:solidFill>
            <a:srgbClr val="FFFFFF"/>
          </a:solidFill>
          <a:ln>
            <a:solidFill>
              <a:srgbClr val="404040"/>
            </a:solidFill>
          </a:ln>
        </p:spPr>
        <p:txBody>
          <a:bodyPr>
            <a:normAutofit/>
          </a:bodyPr>
          <a:lstStyle/>
          <a:p>
            <a:r>
              <a:rPr lang="en-CA">
                <a:solidFill>
                  <a:srgbClr val="404040"/>
                </a:solidFill>
              </a:rPr>
              <a:t>Limitations of the models</a:t>
            </a:r>
          </a:p>
        </p:txBody>
      </p:sp>
      <p:sp>
        <p:nvSpPr>
          <p:cNvPr id="3" name="Content Placeholder 2">
            <a:extLst>
              <a:ext uri="{FF2B5EF4-FFF2-40B4-BE49-F238E27FC236}">
                <a16:creationId xmlns:a16="http://schemas.microsoft.com/office/drawing/2014/main" id="{35FE211B-8B1A-4060-9C41-B96C558C0070}"/>
              </a:ext>
            </a:extLst>
          </p:cNvPr>
          <p:cNvSpPr>
            <a:spLocks noGrp="1"/>
          </p:cNvSpPr>
          <p:nvPr>
            <p:ph idx="1"/>
          </p:nvPr>
        </p:nvSpPr>
        <p:spPr>
          <a:xfrm>
            <a:off x="2999133" y="2299317"/>
            <a:ext cx="6144867" cy="4136993"/>
          </a:xfrm>
        </p:spPr>
        <p:txBody>
          <a:bodyPr>
            <a:normAutofit fontScale="92500" lnSpcReduction="10000"/>
          </a:bodyPr>
          <a:lstStyle/>
          <a:p>
            <a:pPr>
              <a:lnSpc>
                <a:spcPct val="90000"/>
              </a:lnSpc>
            </a:pPr>
            <a:r>
              <a:rPr lang="en-US" sz="2000" dirty="0"/>
              <a:t>The model does not consider factors related to the location of the vehicle seller.</a:t>
            </a:r>
          </a:p>
          <a:p>
            <a:pPr>
              <a:lnSpc>
                <a:spcPct val="90000"/>
              </a:lnSpc>
            </a:pPr>
            <a:endParaRPr lang="en-US" sz="2000" dirty="0"/>
          </a:p>
          <a:p>
            <a:pPr>
              <a:lnSpc>
                <a:spcPct val="90000"/>
              </a:lnSpc>
            </a:pPr>
            <a:r>
              <a:rPr lang="en-US" sz="2000" dirty="0"/>
              <a:t>The model does not consider factors related to the economy, whether local, state, or national.</a:t>
            </a:r>
          </a:p>
          <a:p>
            <a:pPr>
              <a:lnSpc>
                <a:spcPct val="90000"/>
              </a:lnSpc>
            </a:pPr>
            <a:endParaRPr lang="en-US" sz="2000" dirty="0"/>
          </a:p>
          <a:p>
            <a:pPr>
              <a:lnSpc>
                <a:spcPct val="90000"/>
              </a:lnSpc>
            </a:pPr>
            <a:r>
              <a:rPr lang="en-US" sz="2000" dirty="0"/>
              <a:t>The predicted prices for some car manufacturer may show distorted values due to the low representativeness of the brand in the training data set.</a:t>
            </a:r>
          </a:p>
          <a:p>
            <a:pPr>
              <a:lnSpc>
                <a:spcPct val="90000"/>
              </a:lnSpc>
            </a:pPr>
            <a:endParaRPr lang="en-US" sz="2000" dirty="0"/>
          </a:p>
          <a:p>
            <a:pPr>
              <a:lnSpc>
                <a:spcPct val="90000"/>
              </a:lnSpc>
            </a:pPr>
            <a:r>
              <a:rPr lang="en-US" sz="2000" dirty="0"/>
              <a:t>As the model uses a dataset from a specific period, temporal variations in prices are not modeled or considered</a:t>
            </a:r>
            <a:r>
              <a:rPr lang="en-US" sz="1400" dirty="0"/>
              <a:t>.</a:t>
            </a:r>
            <a:endParaRPr lang="en-CA" sz="1400" dirty="0"/>
          </a:p>
        </p:txBody>
      </p:sp>
    </p:spTree>
    <p:extLst>
      <p:ext uri="{BB962C8B-B14F-4D97-AF65-F5344CB8AC3E}">
        <p14:creationId xmlns:p14="http://schemas.microsoft.com/office/powerpoint/2010/main" val="2097624730"/>
      </p:ext>
    </p:extLst>
  </p:cSld>
  <p:clrMapOvr>
    <a:overrideClrMapping bg1="dk1" tx1="lt1" bg2="dk2" tx2="lt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C9F9EF0-93D5-4D4B-BAFE-4770028147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C44347-6D27-42D6-9B7B-61A7D506E818}"/>
              </a:ext>
            </a:extLst>
          </p:cNvPr>
          <p:cNvSpPr>
            <a:spLocks noGrp="1"/>
          </p:cNvSpPr>
          <p:nvPr>
            <p:ph type="title"/>
          </p:nvPr>
        </p:nvSpPr>
        <p:spPr>
          <a:xfrm>
            <a:off x="1402671" y="964692"/>
            <a:ext cx="9232777" cy="1188720"/>
          </a:xfrm>
          <a:solidFill>
            <a:srgbClr val="FFFFFF">
              <a:alpha val="10000"/>
            </a:srgbClr>
          </a:solidFill>
          <a:ln>
            <a:solidFill>
              <a:schemeClr val="tx1"/>
            </a:solidFill>
          </a:ln>
        </p:spPr>
        <p:txBody>
          <a:bodyPr>
            <a:normAutofit/>
          </a:bodyPr>
          <a:lstStyle/>
          <a:p>
            <a:r>
              <a:rPr lang="en-CA" dirty="0">
                <a:solidFill>
                  <a:schemeClr val="tx1"/>
                </a:solidFill>
              </a:rPr>
              <a:t>Conclusions</a:t>
            </a:r>
          </a:p>
        </p:txBody>
      </p:sp>
      <p:sp>
        <p:nvSpPr>
          <p:cNvPr id="3" name="Content Placeholder 2">
            <a:extLst>
              <a:ext uri="{FF2B5EF4-FFF2-40B4-BE49-F238E27FC236}">
                <a16:creationId xmlns:a16="http://schemas.microsoft.com/office/drawing/2014/main" id="{35FE211B-8B1A-4060-9C41-B96C558C0070}"/>
              </a:ext>
            </a:extLst>
          </p:cNvPr>
          <p:cNvSpPr>
            <a:spLocks noGrp="1"/>
          </p:cNvSpPr>
          <p:nvPr>
            <p:ph idx="1"/>
          </p:nvPr>
        </p:nvSpPr>
        <p:spPr>
          <a:xfrm>
            <a:off x="1402671" y="2638044"/>
            <a:ext cx="9232777" cy="3700612"/>
          </a:xfrm>
        </p:spPr>
        <p:txBody>
          <a:bodyPr>
            <a:normAutofit lnSpcReduction="10000"/>
          </a:bodyPr>
          <a:lstStyle/>
          <a:p>
            <a:r>
              <a:rPr lang="en-CA" sz="2400" dirty="0"/>
              <a:t>The model can predict the used car price with a good quality because it can explain more than 85% of used car price variation at 95% confidence level.</a:t>
            </a:r>
          </a:p>
          <a:p>
            <a:endParaRPr lang="en-CA" sz="2400" dirty="0"/>
          </a:p>
          <a:p>
            <a:r>
              <a:rPr lang="en-CA" sz="2400" dirty="0"/>
              <a:t>Although there are some limitations, the model shows a consistent predicted values, regardless the characteristics of the cars.</a:t>
            </a:r>
          </a:p>
          <a:p>
            <a:endParaRPr lang="en-CA" sz="2400" dirty="0"/>
          </a:p>
          <a:p>
            <a:r>
              <a:rPr lang="en-CA" sz="2400" dirty="0"/>
              <a:t>The 3 linear models presented similar RMSEs, indicating that the penalizations parameters do not influence in the final precision.</a:t>
            </a:r>
          </a:p>
        </p:txBody>
      </p:sp>
    </p:spTree>
    <p:extLst>
      <p:ext uri="{BB962C8B-B14F-4D97-AF65-F5344CB8AC3E}">
        <p14:creationId xmlns:p14="http://schemas.microsoft.com/office/powerpoint/2010/main" val="987583302"/>
      </p:ext>
    </p:extLst>
  </p:cSld>
  <p:clrMapOvr>
    <a:overrideClrMapping bg1="dk1" tx1="lt1" bg2="dk2" tx2="lt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AD85578-1E4B-4014-9D52-E76894750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38656" cy="6858000"/>
          </a:xfrm>
          <a:prstGeom prst="rect">
            <a:avLst/>
          </a:prstGeom>
          <a:solidFill>
            <a:schemeClr val="accent2">
              <a:alpha val="5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18" name="Rectangle 17">
            <a:extLst>
              <a:ext uri="{FF2B5EF4-FFF2-40B4-BE49-F238E27FC236}">
                <a16:creationId xmlns:a16="http://schemas.microsoft.com/office/drawing/2014/main" id="{48550B3F-9390-4CA1-B3C8-91529289DC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38656" y="0"/>
            <a:ext cx="4653776"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C44347-6D27-42D6-9B7B-61A7D506E818}"/>
              </a:ext>
            </a:extLst>
          </p:cNvPr>
          <p:cNvSpPr>
            <a:spLocks noGrp="1"/>
          </p:cNvSpPr>
          <p:nvPr>
            <p:ph type="title"/>
          </p:nvPr>
        </p:nvSpPr>
        <p:spPr>
          <a:xfrm>
            <a:off x="1949518" y="1059838"/>
            <a:ext cx="3632052" cy="4738324"/>
          </a:xfrm>
          <a:noFill/>
          <a:ln>
            <a:noFill/>
          </a:ln>
        </p:spPr>
        <p:txBody>
          <a:bodyPr>
            <a:normAutofit/>
          </a:bodyPr>
          <a:lstStyle/>
          <a:p>
            <a:r>
              <a:rPr lang="en-CA" sz="3600">
                <a:solidFill>
                  <a:schemeClr val="bg1"/>
                </a:solidFill>
              </a:rPr>
              <a:t>Suggestions</a:t>
            </a:r>
          </a:p>
        </p:txBody>
      </p:sp>
      <p:sp>
        <p:nvSpPr>
          <p:cNvPr id="3" name="Content Placeholder 2">
            <a:extLst>
              <a:ext uri="{FF2B5EF4-FFF2-40B4-BE49-F238E27FC236}">
                <a16:creationId xmlns:a16="http://schemas.microsoft.com/office/drawing/2014/main" id="{35FE211B-8B1A-4060-9C41-B96C558C0070}"/>
              </a:ext>
            </a:extLst>
          </p:cNvPr>
          <p:cNvSpPr>
            <a:spLocks noGrp="1"/>
          </p:cNvSpPr>
          <p:nvPr>
            <p:ph idx="1"/>
          </p:nvPr>
        </p:nvSpPr>
        <p:spPr>
          <a:xfrm>
            <a:off x="6365289" y="686976"/>
            <a:ext cx="5459767" cy="5403106"/>
          </a:xfrm>
        </p:spPr>
        <p:txBody>
          <a:bodyPr anchor="ctr">
            <a:normAutofit/>
          </a:bodyPr>
          <a:lstStyle/>
          <a:p>
            <a:pPr marL="85725" indent="0">
              <a:buNone/>
              <a:tabLst>
                <a:tab pos="85725" algn="l"/>
              </a:tabLst>
            </a:pPr>
            <a:r>
              <a:rPr lang="en-CA" sz="2000" dirty="0"/>
              <a:t>Craigslist could implement a similar tool to help the sellers to evaluate if the wanted price is coherent with the market.</a:t>
            </a:r>
          </a:p>
          <a:p>
            <a:pPr marL="85725" indent="0">
              <a:tabLst>
                <a:tab pos="85725" algn="l"/>
              </a:tabLst>
            </a:pPr>
            <a:endParaRPr lang="en-CA" sz="2000" dirty="0"/>
          </a:p>
          <a:p>
            <a:pPr marL="85725" indent="0">
              <a:buNone/>
              <a:tabLst>
                <a:tab pos="85725" algn="l"/>
              </a:tabLst>
            </a:pPr>
            <a:r>
              <a:rPr lang="en-CA" sz="2000" dirty="0"/>
              <a:t>Similarly, it could be implemented this tool to allow the buyers to obtain an approximated price for a specific car entering its characteristics.</a:t>
            </a:r>
          </a:p>
          <a:p>
            <a:pPr marL="85725" indent="0">
              <a:tabLst>
                <a:tab pos="85725" algn="l"/>
              </a:tabLst>
            </a:pPr>
            <a:endParaRPr lang="en-US" sz="2000" dirty="0"/>
          </a:p>
          <a:p>
            <a:pPr marL="85725" indent="0">
              <a:buNone/>
              <a:tabLst>
                <a:tab pos="85725" algn="l"/>
              </a:tabLst>
            </a:pPr>
            <a:r>
              <a:rPr lang="en-US" sz="2000" dirty="0"/>
              <a:t>Craigslist could work to improve the register form to try to minimize the quantity of null values or even the insertion of incorrect values by creating validations and predefined values for specific fields</a:t>
            </a:r>
            <a:r>
              <a:rPr lang="en-US" dirty="0"/>
              <a:t>.</a:t>
            </a:r>
          </a:p>
        </p:txBody>
      </p:sp>
    </p:spTree>
    <p:extLst>
      <p:ext uri="{BB962C8B-B14F-4D97-AF65-F5344CB8AC3E}">
        <p14:creationId xmlns:p14="http://schemas.microsoft.com/office/powerpoint/2010/main" val="1370355539"/>
      </p:ext>
    </p:extLst>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44347-6D27-42D6-9B7B-61A7D506E818}"/>
              </a:ext>
            </a:extLst>
          </p:cNvPr>
          <p:cNvSpPr>
            <a:spLocks noGrp="1"/>
          </p:cNvSpPr>
          <p:nvPr>
            <p:ph type="title"/>
          </p:nvPr>
        </p:nvSpPr>
        <p:spPr>
          <a:xfrm>
            <a:off x="5498590" y="988741"/>
            <a:ext cx="5888754" cy="4880518"/>
          </a:xfrm>
          <a:noFill/>
          <a:ln>
            <a:noFill/>
          </a:ln>
        </p:spPr>
        <p:txBody>
          <a:bodyPr vert="horz" wrap="square" lIns="274320" tIns="182880" rIns="274320" bIns="182880" rtlCol="0" anchor="ctr" anchorCtr="1">
            <a:normAutofit/>
          </a:bodyPr>
          <a:lstStyle/>
          <a:p>
            <a:pPr algn="l"/>
            <a:r>
              <a:rPr lang="en-US" sz="4800" kern="1200" cap="all" spc="200" baseline="0" dirty="0">
                <a:solidFill>
                  <a:schemeClr val="tx1"/>
                </a:solidFill>
                <a:latin typeface="+mj-lt"/>
                <a:ea typeface="+mj-ea"/>
                <a:cs typeface="+mj-cs"/>
              </a:rPr>
              <a:t>Thank </a:t>
            </a:r>
            <a:r>
              <a:rPr lang="en-US" sz="4800" kern="1200" cap="all" spc="200" baseline="0" dirty="0" err="1">
                <a:solidFill>
                  <a:schemeClr val="tx1"/>
                </a:solidFill>
                <a:latin typeface="+mj-lt"/>
                <a:ea typeface="+mj-ea"/>
                <a:cs typeface="+mj-cs"/>
              </a:rPr>
              <a:t>YoU</a:t>
            </a:r>
            <a:endParaRPr lang="en-US" sz="4800" kern="1200" cap="none" spc="200" dirty="0">
              <a:solidFill>
                <a:schemeClr val="tx1"/>
              </a:solidFill>
              <a:latin typeface="+mj-lt"/>
              <a:ea typeface="+mj-ea"/>
              <a:cs typeface="+mj-cs"/>
            </a:endParaRPr>
          </a:p>
        </p:txBody>
      </p:sp>
      <p:sp>
        <p:nvSpPr>
          <p:cNvPr id="14" name="Rectangle 13">
            <a:extLst>
              <a:ext uri="{FF2B5EF4-FFF2-40B4-BE49-F238E27FC236}">
                <a16:creationId xmlns:a16="http://schemas.microsoft.com/office/drawing/2014/main" id="{6E5BD17F-C95C-40ED-8D04-03295D46FD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38656" cy="6858000"/>
          </a:xfrm>
          <a:prstGeom prst="rect">
            <a:avLst/>
          </a:prstGeom>
          <a:solidFill>
            <a:schemeClr val="bg2">
              <a:alpha val="8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16" name="Rectangle 15">
            <a:extLst>
              <a:ext uri="{FF2B5EF4-FFF2-40B4-BE49-F238E27FC236}">
                <a16:creationId xmlns:a16="http://schemas.microsoft.com/office/drawing/2014/main" id="{4203DEB5-0B19-4F8E-84E2-00F5861C96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38656" y="0"/>
            <a:ext cx="3215640" cy="6858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2134822"/>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otalTime>474</TotalTime>
  <Words>1797</Words>
  <Application>Microsoft Office PowerPoint</Application>
  <PresentationFormat>Widescreen</PresentationFormat>
  <Paragraphs>276</Paragraphs>
  <Slides>24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Courier New</vt:lpstr>
      <vt:lpstr>Gill Sans MT</vt:lpstr>
      <vt:lpstr>Parcel</vt:lpstr>
      <vt:lpstr>CSIS 4260 – Special Topics in Data Analytics  Prof. Nikhil Bhardwaj   Predicting Used Car Sales Price using Linear Regression Models</vt:lpstr>
      <vt:lpstr>Problem</vt:lpstr>
      <vt:lpstr>Objective</vt:lpstr>
      <vt:lpstr>Dataset</vt:lpstr>
      <vt:lpstr>Exploratory Analysis</vt:lpstr>
      <vt:lpstr>Exploratory Analysis</vt:lpstr>
      <vt:lpstr>Exploratory Analysis</vt:lpstr>
      <vt:lpstr>Exploratory Analysis</vt:lpstr>
      <vt:lpstr>Exploratory Analysis</vt:lpstr>
      <vt:lpstr>Data  Pre-Processing</vt:lpstr>
      <vt:lpstr>Data Processing</vt:lpstr>
      <vt:lpstr>Data Processing</vt:lpstr>
      <vt:lpstr>Data Modeling</vt:lpstr>
      <vt:lpstr>Data ANALYSIS</vt:lpstr>
      <vt:lpstr>Data Modeling</vt:lpstr>
      <vt:lpstr>Data model TRAINING</vt:lpstr>
      <vt:lpstr>Data model training</vt:lpstr>
      <vt:lpstr>Data Modeling</vt:lpstr>
      <vt:lpstr>Training model Results</vt:lpstr>
      <vt:lpstr>PREDICTIONS</vt:lpstr>
      <vt:lpstr>Limitations of the models</vt:lpstr>
      <vt:lpstr>Conclusions</vt:lpstr>
      <vt:lpstr>Suggestions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CSIS 4260 – Special Topics in Data Analytics  Prof. Nikhil Bhardwaj   Predicting Used Car Sales Price using Linear Regression Models</dc:title>
  <dc:creator>Ronaldo de Oliveira</dc:creator>
  <cp:lastModifiedBy>Ronaldo de Oliveira</cp:lastModifiedBy>
  <cp:revision>25</cp:revision>
  <dcterms:created xsi:type="dcterms:W3CDTF">2020-11-20T00:28:47Z</dcterms:created>
  <dcterms:modified xsi:type="dcterms:W3CDTF">2020-11-26T01:46:44Z</dcterms:modified>
</cp:coreProperties>
</file>